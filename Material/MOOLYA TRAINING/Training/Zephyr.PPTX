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Default Extension="rels" ContentType="application/vnd.openxmlformats-package.relationships+xml"/>
  <Default Extension="xml" ContentType="application/xml"/>
  <Override PartName="/ppt/presentation.xml" ContentType="application/vnd.openxmlformats-officedocument.presentationml.presentation.main+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tableStyles.xml" ContentType="application/vnd.openxmlformats-officedocument.presentationml.tableStyles+xml"/>
  <Override PartName="/docProps/custom.xml" ContentType="application/vnd.openxmlformats-officedocument.custom-properties+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3"/>
  </p:notesMasterIdLst>
  <p:sldIdLst>
    <p:sldId id="399" r:id="rId2"/>
    <p:sldId id="400" r:id="rId3"/>
    <p:sldId id="403" r:id="rId4"/>
    <p:sldId id="405" r:id="rId5"/>
    <p:sldId id="406" r:id="rId6"/>
    <p:sldId id="408" r:id="rId7"/>
    <p:sldId id="409" r:id="rId8"/>
    <p:sldId id="407" r:id="rId9"/>
    <p:sldId id="404" r:id="rId10"/>
    <p:sldId id="411" r:id="rId11"/>
    <p:sldId id="412" r:id="rId12"/>
  </p:sldIdLst>
  <p:sldSz cx="12192000" cy="6858000"/>
  <p:notesSz cx="6858000" cy="9144000"/>
  <p:custShowLst>
    <p:custShow name="Custom Show 1" id="0">
      <p:sldLst/>
    </p:custShow>
  </p:custShowLst>
  <p:defaultTex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n-lt"/>
        <a:ea typeface="+mn-ea"/>
        <a:cs typeface="+mn-cs"/>
        <a:sym typeface="Calibri"/>
      </a:defRPr>
    </a:lvl1pPr>
    <a:lvl2pPr marL="0" marR="0" indent="457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n-lt"/>
        <a:ea typeface="+mn-ea"/>
        <a:cs typeface="+mn-cs"/>
        <a:sym typeface="Calibri"/>
      </a:defRPr>
    </a:lvl2pPr>
    <a:lvl3pPr marL="0" marR="0" indent="914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n-lt"/>
        <a:ea typeface="+mn-ea"/>
        <a:cs typeface="+mn-cs"/>
        <a:sym typeface="Calibri"/>
      </a:defRPr>
    </a:lvl3pPr>
    <a:lvl4pPr marL="0" marR="0" indent="1371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n-lt"/>
        <a:ea typeface="+mn-ea"/>
        <a:cs typeface="+mn-cs"/>
        <a:sym typeface="Calibri"/>
      </a:defRPr>
    </a:lvl4pPr>
    <a:lvl5pPr marL="0" marR="0" indent="18288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n-lt"/>
        <a:ea typeface="+mn-ea"/>
        <a:cs typeface="+mn-cs"/>
        <a:sym typeface="Calibri"/>
      </a:defRPr>
    </a:lvl5pPr>
    <a:lvl6pPr marL="0" marR="0" indent="22860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n-lt"/>
        <a:ea typeface="+mn-ea"/>
        <a:cs typeface="+mn-cs"/>
        <a:sym typeface="Calibri"/>
      </a:defRPr>
    </a:lvl6pPr>
    <a:lvl7pPr marL="0" marR="0" indent="2743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n-lt"/>
        <a:ea typeface="+mn-ea"/>
        <a:cs typeface="+mn-cs"/>
        <a:sym typeface="Calibri"/>
      </a:defRPr>
    </a:lvl7pPr>
    <a:lvl8pPr marL="0" marR="0" indent="3200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n-lt"/>
        <a:ea typeface="+mn-ea"/>
        <a:cs typeface="+mn-cs"/>
        <a:sym typeface="Calibri"/>
      </a:defRPr>
    </a:lvl8pPr>
    <a:lvl9pPr marL="0" marR="0" indent="3657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n-lt"/>
        <a:ea typeface="+mn-ea"/>
        <a:cs typeface="+mn-cs"/>
        <a:sym typeface="Calibri"/>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000" autoAdjust="0"/>
    <p:restoredTop sz="97509" autoAdjust="0"/>
  </p:normalViewPr>
  <p:slideViewPr>
    <p:cSldViewPr snapToGrid="0">
      <p:cViewPr varScale="1">
        <p:scale>
          <a:sx n="67" d="100"/>
          <a:sy n="67" d="100"/>
        </p:scale>
        <p:origin x="-640" y="-76"/>
      </p:cViewPr>
      <p:guideLst>
        <p:guide orient="horz" pos="2160"/>
        <p:guide pos="3840"/>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9" name="Shape 69"/>
          <p:cNvSpPr>
            <a:spLocks noGrp="1" noRot="1" noChangeAspect="1"/>
          </p:cNvSpPr>
          <p:nvPr>
            <p:ph type="sldImg"/>
          </p:nvPr>
        </p:nvSpPr>
        <p:spPr>
          <a:xfrm>
            <a:off x="1143000" y="685800"/>
            <a:ext cx="4572000" cy="3429000"/>
          </a:xfrm>
          <a:prstGeom prst="rect">
            <a:avLst/>
          </a:prstGeom>
        </p:spPr>
        <p:txBody>
          <a:bodyPr/>
          <a:lstStyle/>
          <a:p>
            <a:endParaRPr/>
          </a:p>
        </p:txBody>
      </p:sp>
      <p:sp>
        <p:nvSpPr>
          <p:cNvPr id="70" name="Shape 70"/>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latinLnBrk="0">
      <a:defRPr sz="1200">
        <a:latin typeface="+mn-lt"/>
        <a:ea typeface="+mn-ea"/>
        <a:cs typeface="+mn-cs"/>
        <a:sym typeface="Calibri"/>
      </a:defRPr>
    </a:lvl1pPr>
    <a:lvl2pPr indent="228600" latinLnBrk="0">
      <a:defRPr sz="1200">
        <a:latin typeface="+mn-lt"/>
        <a:ea typeface="+mn-ea"/>
        <a:cs typeface="+mn-cs"/>
        <a:sym typeface="Calibri"/>
      </a:defRPr>
    </a:lvl2pPr>
    <a:lvl3pPr indent="457200" latinLnBrk="0">
      <a:defRPr sz="1200">
        <a:latin typeface="+mn-lt"/>
        <a:ea typeface="+mn-ea"/>
        <a:cs typeface="+mn-cs"/>
        <a:sym typeface="Calibri"/>
      </a:defRPr>
    </a:lvl3pPr>
    <a:lvl4pPr indent="685800" latinLnBrk="0">
      <a:defRPr sz="1200">
        <a:latin typeface="+mn-lt"/>
        <a:ea typeface="+mn-ea"/>
        <a:cs typeface="+mn-cs"/>
        <a:sym typeface="Calibri"/>
      </a:defRPr>
    </a:lvl4pPr>
    <a:lvl5pPr indent="914400" latinLnBrk="0">
      <a:defRPr sz="1200">
        <a:latin typeface="+mn-lt"/>
        <a:ea typeface="+mn-ea"/>
        <a:cs typeface="+mn-cs"/>
        <a:sym typeface="Calibri"/>
      </a:defRPr>
    </a:lvl5pPr>
    <a:lvl6pPr indent="1143000" latinLnBrk="0">
      <a:defRPr sz="1200">
        <a:latin typeface="+mn-lt"/>
        <a:ea typeface="+mn-ea"/>
        <a:cs typeface="+mn-cs"/>
        <a:sym typeface="Calibri"/>
      </a:defRPr>
    </a:lvl6pPr>
    <a:lvl7pPr indent="1371600" latinLnBrk="0">
      <a:defRPr sz="1200">
        <a:latin typeface="+mn-lt"/>
        <a:ea typeface="+mn-ea"/>
        <a:cs typeface="+mn-cs"/>
        <a:sym typeface="Calibri"/>
      </a:defRPr>
    </a:lvl7pPr>
    <a:lvl8pPr indent="1600200" latinLnBrk="0">
      <a:defRPr sz="1200">
        <a:latin typeface="+mn-lt"/>
        <a:ea typeface="+mn-ea"/>
        <a:cs typeface="+mn-cs"/>
        <a:sym typeface="Calibri"/>
      </a:defRPr>
    </a:lvl8pPr>
    <a:lvl9pPr indent="1828800" latinLnBrk="0">
      <a:defRPr sz="1200">
        <a:latin typeface="+mn-lt"/>
        <a:ea typeface="+mn-ea"/>
        <a:cs typeface="+mn-cs"/>
        <a:sym typeface="Calibri"/>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960AD1EE-5CAE-49AE-A980-D62FB2CD9985}" type="slidenum">
              <a:rPr lang="en-IN" smtClean="0"/>
              <a:pPr/>
              <a:t>1</a:t>
            </a:fld>
            <a:endParaRPr lang="en-IN"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960AD1EE-5CAE-49AE-A980-D62FB2CD9985}" type="slidenum">
              <a:rPr lang="en-IN" smtClean="0"/>
              <a:pPr/>
              <a:t>2</a:t>
            </a:fld>
            <a:endParaRPr lang="en-IN"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960AD1EE-5CAE-49AE-A980-D62FB2CD9985}" type="slidenum">
              <a:rPr lang="en-IN" smtClean="0"/>
              <a:pPr/>
              <a:t>3</a:t>
            </a:fld>
            <a:endParaRPr lang="en-IN"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960AD1EE-5CAE-49AE-A980-D62FB2CD9985}" type="slidenum">
              <a:rPr lang="en-IN" smtClean="0"/>
              <a:pPr/>
              <a:t>4</a:t>
            </a:fld>
            <a:endParaRPr lang="en-IN"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960AD1EE-5CAE-49AE-A980-D62FB2CD9985}" type="slidenum">
              <a:rPr lang="en-IN" smtClean="0"/>
              <a:pPr/>
              <a:t>5</a:t>
            </a:fld>
            <a:endParaRPr lang="en-IN"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960AD1EE-5CAE-49AE-A980-D62FB2CD9985}" type="slidenum">
              <a:rPr lang="en-IN" smtClean="0"/>
              <a:pPr/>
              <a:t>6</a:t>
            </a:fld>
            <a:endParaRPr lang="en-IN"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960AD1EE-5CAE-49AE-A980-D62FB2CD9985}" type="slidenum">
              <a:rPr lang="en-IN" smtClean="0"/>
              <a:pPr/>
              <a:t>7</a:t>
            </a:fld>
            <a:endParaRPr lang="en-IN"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960AD1EE-5CAE-49AE-A980-D62FB2CD9985}" type="slidenum">
              <a:rPr lang="en-IN" smtClean="0"/>
              <a:pPr/>
              <a:t>8</a:t>
            </a:fld>
            <a:endParaRPr lang="en-IN"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960AD1EE-5CAE-49AE-A980-D62FB2CD9985}" type="slidenum">
              <a:rPr lang="en-IN" smtClean="0"/>
              <a:pPr/>
              <a:t>9</a:t>
            </a:fld>
            <a:endParaRPr lang="en-IN"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960AD1EE-5CAE-49AE-A980-D62FB2CD9985}" type="slidenum">
              <a:rPr lang="en-IN" smtClean="0"/>
              <a:pPr/>
              <a:t>10</a:t>
            </a:fld>
            <a:endParaRPr lang="en-IN"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One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528354" y="1742499"/>
            <a:ext cx="10622576" cy="4572241"/>
          </a:xfrm>
          <a:prstGeom prst="rect">
            <a:avLst/>
          </a:prstGeom>
        </p:spPr>
        <p:txBody>
          <a:bodyPr/>
          <a:lstStyle>
            <a:lvl1pPr marL="457200" indent="-457200">
              <a:spcBef>
                <a:spcPts val="500"/>
              </a:spcBef>
              <a:buFont typeface="Wingdings" panose="05000000000000000000" pitchFamily="2" charset="2"/>
              <a:buChar char="Ø"/>
              <a:defRPr sz="2400">
                <a:latin typeface="Helvetica LT Std Cond Light" panose="020B0406020202030204" pitchFamily="34" charset="0"/>
              </a:defRPr>
            </a:lvl1pPr>
            <a:lvl2pPr>
              <a:defRPr sz="2200">
                <a:latin typeface="Helvetica LT Std Cond Light" panose="020B0406020202030204" pitchFamily="34" charset="0"/>
              </a:defRPr>
            </a:lvl2pPr>
            <a:lvl3pPr marL="1143000" indent="-228600">
              <a:buFont typeface="Wingdings" panose="05000000000000000000" pitchFamily="2" charset="2"/>
              <a:buChar char="§"/>
              <a:defRPr sz="2000">
                <a:latin typeface="Helvetica LT Std Cond Light" panose="020B0406020202030204" pitchFamily="34" charset="0"/>
              </a:defRPr>
            </a:lvl3pPr>
            <a:lvl4pPr marL="1600200" indent="-228600">
              <a:buFont typeface="Wingdings" panose="05000000000000000000" pitchFamily="2" charset="2"/>
              <a:buChar char="§"/>
              <a:defRPr sz="1800">
                <a:latin typeface="Helvetica LT Std Cond Light" panose="020B0406020202030204" pitchFamily="34" charset="0"/>
              </a:defRPr>
            </a:lvl4pPr>
            <a:lvl5pPr marL="2057400" indent="-228600">
              <a:buFont typeface="Wingdings" panose="05000000000000000000" pitchFamily="2" charset="2"/>
              <a:buChar char="§"/>
              <a:defRPr sz="1600">
                <a:latin typeface="Helvetica LT Std Cond Light" panose="020B040602020203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9" name="Title 1"/>
          <p:cNvSpPr>
            <a:spLocks noGrp="1"/>
          </p:cNvSpPr>
          <p:nvPr>
            <p:ph type="title" hasCustomPrompt="1"/>
          </p:nvPr>
        </p:nvSpPr>
        <p:spPr>
          <a:xfrm>
            <a:off x="349621" y="921641"/>
            <a:ext cx="8039005" cy="369812"/>
          </a:xfrm>
          <a:prstGeom prst="rect">
            <a:avLst/>
          </a:prstGeom>
        </p:spPr>
        <p:txBody>
          <a:bodyPr/>
          <a:lstStyle>
            <a:lvl1pPr>
              <a:defRPr sz="2400" b="1">
                <a:solidFill>
                  <a:srgbClr val="02918B"/>
                </a:solidFill>
                <a:latin typeface="Helvetica LT Std Cond" panose="020B0506020202030204" pitchFamily="34" charset="0"/>
              </a:defRPr>
            </a:lvl1pPr>
          </a:lstStyle>
          <a:p>
            <a:r>
              <a:rPr lang="en-US" dirty="0"/>
              <a:t>SLIDE TITLE</a:t>
            </a:r>
            <a:endParaRPr lang="en-IN" dirty="0"/>
          </a:p>
        </p:txBody>
      </p:sp>
      <p:sp>
        <p:nvSpPr>
          <p:cNvPr id="6" name="TextBox 5"/>
          <p:cNvSpPr txBox="1"/>
          <p:nvPr userDrawn="1"/>
        </p:nvSpPr>
        <p:spPr>
          <a:xfrm>
            <a:off x="5794786" y="6454591"/>
            <a:ext cx="602429" cy="276999"/>
          </a:xfrm>
          <a:prstGeom prst="rect">
            <a:avLst/>
          </a:prstGeom>
          <a:noFill/>
        </p:spPr>
        <p:txBody>
          <a:bodyPr wrap="square" rtlCol="0">
            <a:spAutoFit/>
          </a:bodyPr>
          <a:lstStyle/>
          <a:p>
            <a:pPr algn="ctr"/>
            <a:fld id="{80185F77-B28D-4181-BD8D-423D01B3D466}" type="slidenum">
              <a:rPr lang="en-IN" sz="1200" smtClean="0">
                <a:solidFill>
                  <a:schemeClr val="bg1">
                    <a:lumMod val="50000"/>
                  </a:schemeClr>
                </a:solidFill>
              </a:rPr>
              <a:pPr algn="ctr"/>
              <a:t>‹#›</a:t>
            </a:fld>
            <a:endParaRPr lang="en-IN" sz="1200" dirty="0">
              <a:solidFill>
                <a:schemeClr val="bg1">
                  <a:lumMod val="50000"/>
                </a:schemeClr>
              </a:solidFill>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Text"/>
          <p:cNvSpPr txBox="1">
            <a:spLocks noGrp="1"/>
          </p:cNvSpPr>
          <p:nvPr>
            <p:ph type="title"/>
          </p:nvPr>
        </p:nvSpPr>
        <p:spPr>
          <a:xfrm>
            <a:off x="273050" y="200025"/>
            <a:ext cx="10515600" cy="617753"/>
          </a:xfrm>
          <a:prstGeom prst="rect">
            <a:avLst/>
          </a:prstGeom>
          <a:ln w="12700">
            <a:miter lim="400000"/>
          </a:ln>
        </p:spPr>
        <p:txBody>
          <a:bodyPr lIns="45719" rIns="45719" anchor="ctr">
            <a:normAutofit/>
          </a:bodyPr>
          <a:lstStyle/>
          <a:p>
            <a:r>
              <a:t>Title Text</a:t>
            </a:r>
          </a:p>
        </p:txBody>
      </p:sp>
      <p:sp>
        <p:nvSpPr>
          <p:cNvPr id="3" name="Body Level One…"/>
          <p:cNvSpPr txBox="1">
            <a:spLocks noGrp="1"/>
          </p:cNvSpPr>
          <p:nvPr>
            <p:ph type="body" idx="1"/>
          </p:nvPr>
        </p:nvSpPr>
        <p:spPr>
          <a:xfrm>
            <a:off x="298524" y="1717993"/>
            <a:ext cx="10515601" cy="4351339"/>
          </a:xfrm>
          <a:prstGeom prst="rect">
            <a:avLst/>
          </a:prstGeom>
          <a:ln w="12700">
            <a:miter lim="400000"/>
          </a:ln>
        </p:spPr>
        <p:txBody>
          <a:bodyPr lIns="45719" rIns="45719">
            <a:normAutofit/>
          </a:bodyPr>
          <a:lstStyle/>
          <a:p>
            <a:r>
              <a:t>Body Level One</a:t>
            </a:r>
          </a:p>
          <a:p>
            <a:pPr lvl="1"/>
            <a:r>
              <a:t>Body Level Two</a:t>
            </a:r>
          </a:p>
          <a:p>
            <a:pPr lvl="2"/>
            <a:r>
              <a:t>Body Level Three</a:t>
            </a:r>
          </a:p>
          <a:p>
            <a:pPr lvl="3"/>
            <a:r>
              <a:t>Body Level Four</a:t>
            </a:r>
          </a:p>
          <a:p>
            <a:pPr lvl="4"/>
            <a:r>
              <a:t>Body Level Five</a:t>
            </a:r>
          </a:p>
        </p:txBody>
      </p:sp>
      <p:sp>
        <p:nvSpPr>
          <p:cNvPr id="4" name="Rectangle 11"/>
          <p:cNvSpPr/>
          <p:nvPr/>
        </p:nvSpPr>
        <p:spPr>
          <a:xfrm>
            <a:off x="3984585" y="2174563"/>
            <a:ext cx="3251199" cy="1333501"/>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21600" y="0"/>
                </a:lnTo>
                <a:lnTo>
                  <a:pt x="19237" y="21600"/>
                </a:lnTo>
                <a:lnTo>
                  <a:pt x="0" y="20983"/>
                </a:lnTo>
                <a:lnTo>
                  <a:pt x="0" y="0"/>
                </a:lnTo>
                <a:close/>
              </a:path>
            </a:pathLst>
          </a:custGeom>
          <a:solidFill>
            <a:srgbClr val="FFFFFF"/>
          </a:solidFill>
          <a:ln w="12700">
            <a:miter lim="400000"/>
          </a:ln>
        </p:spPr>
        <p:txBody>
          <a:bodyPr lIns="45719" rIns="45719" anchor="ctr"/>
          <a:lstStyle/>
          <a:p>
            <a:pPr algn="ctr">
              <a:defRPr>
                <a:solidFill>
                  <a:srgbClr val="FFFFFF"/>
                </a:solidFill>
              </a:defRPr>
            </a:pPr>
            <a:endParaRPr/>
          </a:p>
        </p:txBody>
      </p:sp>
      <p:sp>
        <p:nvSpPr>
          <p:cNvPr id="5" name="Rectangle 4"/>
          <p:cNvSpPr/>
          <p:nvPr/>
        </p:nvSpPr>
        <p:spPr>
          <a:xfrm>
            <a:off x="0" y="0"/>
            <a:ext cx="12179300" cy="45719"/>
          </a:xfrm>
          <a:prstGeom prst="rect">
            <a:avLst/>
          </a:prstGeom>
          <a:solidFill>
            <a:srgbClr val="000000"/>
          </a:solidFill>
          <a:ln w="12700">
            <a:solidFill>
              <a:srgbClr val="000000"/>
            </a:solidFill>
            <a:miter/>
          </a:ln>
        </p:spPr>
        <p:txBody>
          <a:bodyPr lIns="45719" rIns="45719" anchor="ctr"/>
          <a:lstStyle/>
          <a:p>
            <a:pPr algn="ctr">
              <a:defRPr>
                <a:solidFill>
                  <a:srgbClr val="FFFFFF"/>
                </a:solidFill>
              </a:defRPr>
            </a:pPr>
            <a:endParaRPr/>
          </a:p>
        </p:txBody>
      </p:sp>
      <p:sp>
        <p:nvSpPr>
          <p:cNvPr id="6" name="Rectangle 6"/>
          <p:cNvSpPr/>
          <p:nvPr/>
        </p:nvSpPr>
        <p:spPr>
          <a:xfrm rot="10800000" flipH="1">
            <a:off x="9105900" y="0"/>
            <a:ext cx="3073400" cy="825500"/>
          </a:xfrm>
          <a:custGeom>
            <a:avLst/>
            <a:gdLst/>
            <a:ahLst/>
            <a:cxnLst>
              <a:cxn ang="0">
                <a:pos x="wd2" y="hd2"/>
              </a:cxn>
              <a:cxn ang="5400000">
                <a:pos x="wd2" y="hd2"/>
              </a:cxn>
              <a:cxn ang="10800000">
                <a:pos x="wd2" y="hd2"/>
              </a:cxn>
              <a:cxn ang="16200000">
                <a:pos x="wd2" y="hd2"/>
              </a:cxn>
            </a:cxnLst>
            <a:rect l="0" t="0" r="r" b="b"/>
            <a:pathLst>
              <a:path w="21600" h="21600" extrusionOk="0">
                <a:moveTo>
                  <a:pt x="3899" y="332"/>
                </a:moveTo>
                <a:lnTo>
                  <a:pt x="21600" y="0"/>
                </a:lnTo>
                <a:lnTo>
                  <a:pt x="21600" y="21268"/>
                </a:lnTo>
                <a:lnTo>
                  <a:pt x="0" y="21600"/>
                </a:lnTo>
                <a:lnTo>
                  <a:pt x="3899" y="332"/>
                </a:lnTo>
                <a:close/>
              </a:path>
            </a:pathLst>
          </a:custGeom>
          <a:solidFill>
            <a:srgbClr val="000000"/>
          </a:solidFill>
          <a:ln w="12700">
            <a:solidFill>
              <a:srgbClr val="000000"/>
            </a:solidFill>
            <a:miter/>
          </a:ln>
        </p:spPr>
        <p:txBody>
          <a:bodyPr lIns="45719" rIns="45719" anchor="ctr"/>
          <a:lstStyle/>
          <a:p>
            <a:pPr algn="ctr">
              <a:defRPr>
                <a:solidFill>
                  <a:srgbClr val="FFFFFF"/>
                </a:solidFill>
              </a:defRPr>
            </a:pPr>
            <a:endParaRPr/>
          </a:p>
        </p:txBody>
      </p:sp>
      <p:sp>
        <p:nvSpPr>
          <p:cNvPr id="8" name="Slide Number"/>
          <p:cNvSpPr txBox="1">
            <a:spLocks noGrp="1"/>
          </p:cNvSpPr>
          <p:nvPr>
            <p:ph type="sldNum" sz="quarter" idx="2"/>
          </p:nvPr>
        </p:nvSpPr>
        <p:spPr>
          <a:xfrm>
            <a:off x="5892800" y="6172200"/>
            <a:ext cx="2844800" cy="368301"/>
          </a:xfrm>
          <a:prstGeom prst="rect">
            <a:avLst/>
          </a:prstGeom>
          <a:ln w="12700">
            <a:miter lim="400000"/>
          </a:ln>
        </p:spPr>
        <p:txBody>
          <a:bodyPr wrap="none" lIns="45719" rIns="45719" anchor="ctr">
            <a:spAutoFit/>
          </a:bodyPr>
          <a:lstStyle>
            <a:lvl1pPr algn="r">
              <a:defRPr sz="1200">
                <a:solidFill>
                  <a:srgbClr val="888888"/>
                </a:solidFill>
              </a:defRPr>
            </a:lvl1pPr>
          </a:lstStyle>
          <a:p>
            <a:fld id="{86CB4B4D-7CA3-9044-876B-883B54F8677D}" type="slidenum">
              <a:rPr/>
              <a:pPr/>
              <a:t>‹#›</a:t>
            </a:fld>
            <a:endParaRPr/>
          </a:p>
        </p:txBody>
      </p:sp>
    </p:spTree>
  </p:cSld>
  <p:clrMap bg1="lt1" tx1="dk1" bg2="lt2" tx2="dk2" accent1="accent1" accent2="accent2" accent3="accent3" accent4="accent4" accent5="accent5" accent6="accent6" hlink="hlink" folHlink="folHlink"/>
  <p:sldLayoutIdLst>
    <p:sldLayoutId id="2147483651" r:id="rId1"/>
  </p:sldLayoutIdLst>
  <p:transition spd="med"/>
  <p:txStyles>
    <p:titleStyle>
      <a:lvl1pPr marL="0" marR="0" indent="0" algn="l" defTabSz="914400" rtl="0" latinLnBrk="0">
        <a:lnSpc>
          <a:spcPct val="90000"/>
        </a:lnSpc>
        <a:spcBef>
          <a:spcPts val="0"/>
        </a:spcBef>
        <a:spcAft>
          <a:spcPts val="0"/>
        </a:spcAft>
        <a:buClrTx/>
        <a:buSzTx/>
        <a:buFontTx/>
        <a:buNone/>
        <a:defRPr sz="3200" b="1" i="0" u="none" strike="noStrike" cap="none" spc="0" baseline="0">
          <a:ln>
            <a:noFill/>
          </a:ln>
          <a:solidFill>
            <a:srgbClr val="087AC0"/>
          </a:solidFill>
          <a:uFillTx/>
          <a:latin typeface="Helvetica LT Std Cond"/>
          <a:ea typeface="Helvetica LT Std Cond"/>
          <a:cs typeface="Helvetica LT Std Cond"/>
          <a:sym typeface="Helvetica LT Std Cond"/>
        </a:defRPr>
      </a:lvl1pPr>
      <a:lvl2pPr marL="0" marR="0" indent="0" algn="l" defTabSz="914400" rtl="0" latinLnBrk="0">
        <a:lnSpc>
          <a:spcPct val="90000"/>
        </a:lnSpc>
        <a:spcBef>
          <a:spcPts val="0"/>
        </a:spcBef>
        <a:spcAft>
          <a:spcPts val="0"/>
        </a:spcAft>
        <a:buClrTx/>
        <a:buSzTx/>
        <a:buFontTx/>
        <a:buNone/>
        <a:defRPr sz="3200" b="1" i="0" u="none" strike="noStrike" cap="none" spc="0" baseline="0">
          <a:ln>
            <a:noFill/>
          </a:ln>
          <a:solidFill>
            <a:srgbClr val="087AC0"/>
          </a:solidFill>
          <a:uFillTx/>
          <a:latin typeface="Helvetica LT Std Cond"/>
          <a:ea typeface="Helvetica LT Std Cond"/>
          <a:cs typeface="Helvetica LT Std Cond"/>
          <a:sym typeface="Helvetica LT Std Cond"/>
        </a:defRPr>
      </a:lvl2pPr>
      <a:lvl3pPr marL="0" marR="0" indent="0" algn="l" defTabSz="914400" rtl="0" latinLnBrk="0">
        <a:lnSpc>
          <a:spcPct val="90000"/>
        </a:lnSpc>
        <a:spcBef>
          <a:spcPts val="0"/>
        </a:spcBef>
        <a:spcAft>
          <a:spcPts val="0"/>
        </a:spcAft>
        <a:buClrTx/>
        <a:buSzTx/>
        <a:buFontTx/>
        <a:buNone/>
        <a:defRPr sz="3200" b="1" i="0" u="none" strike="noStrike" cap="none" spc="0" baseline="0">
          <a:ln>
            <a:noFill/>
          </a:ln>
          <a:solidFill>
            <a:srgbClr val="087AC0"/>
          </a:solidFill>
          <a:uFillTx/>
          <a:latin typeface="Helvetica LT Std Cond"/>
          <a:ea typeface="Helvetica LT Std Cond"/>
          <a:cs typeface="Helvetica LT Std Cond"/>
          <a:sym typeface="Helvetica LT Std Cond"/>
        </a:defRPr>
      </a:lvl3pPr>
      <a:lvl4pPr marL="0" marR="0" indent="0" algn="l" defTabSz="914400" rtl="0" latinLnBrk="0">
        <a:lnSpc>
          <a:spcPct val="90000"/>
        </a:lnSpc>
        <a:spcBef>
          <a:spcPts val="0"/>
        </a:spcBef>
        <a:spcAft>
          <a:spcPts val="0"/>
        </a:spcAft>
        <a:buClrTx/>
        <a:buSzTx/>
        <a:buFontTx/>
        <a:buNone/>
        <a:defRPr sz="3200" b="1" i="0" u="none" strike="noStrike" cap="none" spc="0" baseline="0">
          <a:ln>
            <a:noFill/>
          </a:ln>
          <a:solidFill>
            <a:srgbClr val="087AC0"/>
          </a:solidFill>
          <a:uFillTx/>
          <a:latin typeface="Helvetica LT Std Cond"/>
          <a:ea typeface="Helvetica LT Std Cond"/>
          <a:cs typeface="Helvetica LT Std Cond"/>
          <a:sym typeface="Helvetica LT Std Cond"/>
        </a:defRPr>
      </a:lvl4pPr>
      <a:lvl5pPr marL="0" marR="0" indent="0" algn="l" defTabSz="914400" rtl="0" latinLnBrk="0">
        <a:lnSpc>
          <a:spcPct val="90000"/>
        </a:lnSpc>
        <a:spcBef>
          <a:spcPts val="0"/>
        </a:spcBef>
        <a:spcAft>
          <a:spcPts val="0"/>
        </a:spcAft>
        <a:buClrTx/>
        <a:buSzTx/>
        <a:buFontTx/>
        <a:buNone/>
        <a:defRPr sz="3200" b="1" i="0" u="none" strike="noStrike" cap="none" spc="0" baseline="0">
          <a:ln>
            <a:noFill/>
          </a:ln>
          <a:solidFill>
            <a:srgbClr val="087AC0"/>
          </a:solidFill>
          <a:uFillTx/>
          <a:latin typeface="Helvetica LT Std Cond"/>
          <a:ea typeface="Helvetica LT Std Cond"/>
          <a:cs typeface="Helvetica LT Std Cond"/>
          <a:sym typeface="Helvetica LT Std Cond"/>
        </a:defRPr>
      </a:lvl5pPr>
      <a:lvl6pPr marL="0" marR="0" indent="0" algn="l" defTabSz="914400" rtl="0" latinLnBrk="0">
        <a:lnSpc>
          <a:spcPct val="90000"/>
        </a:lnSpc>
        <a:spcBef>
          <a:spcPts val="0"/>
        </a:spcBef>
        <a:spcAft>
          <a:spcPts val="0"/>
        </a:spcAft>
        <a:buClrTx/>
        <a:buSzTx/>
        <a:buFontTx/>
        <a:buNone/>
        <a:defRPr sz="3200" b="1" i="0" u="none" strike="noStrike" cap="none" spc="0" baseline="0">
          <a:ln>
            <a:noFill/>
          </a:ln>
          <a:solidFill>
            <a:srgbClr val="087AC0"/>
          </a:solidFill>
          <a:uFillTx/>
          <a:latin typeface="Helvetica LT Std Cond"/>
          <a:ea typeface="Helvetica LT Std Cond"/>
          <a:cs typeface="Helvetica LT Std Cond"/>
          <a:sym typeface="Helvetica LT Std Cond"/>
        </a:defRPr>
      </a:lvl6pPr>
      <a:lvl7pPr marL="0" marR="0" indent="0" algn="l" defTabSz="914400" rtl="0" latinLnBrk="0">
        <a:lnSpc>
          <a:spcPct val="90000"/>
        </a:lnSpc>
        <a:spcBef>
          <a:spcPts val="0"/>
        </a:spcBef>
        <a:spcAft>
          <a:spcPts val="0"/>
        </a:spcAft>
        <a:buClrTx/>
        <a:buSzTx/>
        <a:buFontTx/>
        <a:buNone/>
        <a:defRPr sz="3200" b="1" i="0" u="none" strike="noStrike" cap="none" spc="0" baseline="0">
          <a:ln>
            <a:noFill/>
          </a:ln>
          <a:solidFill>
            <a:srgbClr val="087AC0"/>
          </a:solidFill>
          <a:uFillTx/>
          <a:latin typeface="Helvetica LT Std Cond"/>
          <a:ea typeface="Helvetica LT Std Cond"/>
          <a:cs typeface="Helvetica LT Std Cond"/>
          <a:sym typeface="Helvetica LT Std Cond"/>
        </a:defRPr>
      </a:lvl7pPr>
      <a:lvl8pPr marL="0" marR="0" indent="0" algn="l" defTabSz="914400" rtl="0" latinLnBrk="0">
        <a:lnSpc>
          <a:spcPct val="90000"/>
        </a:lnSpc>
        <a:spcBef>
          <a:spcPts val="0"/>
        </a:spcBef>
        <a:spcAft>
          <a:spcPts val="0"/>
        </a:spcAft>
        <a:buClrTx/>
        <a:buSzTx/>
        <a:buFontTx/>
        <a:buNone/>
        <a:defRPr sz="3200" b="1" i="0" u="none" strike="noStrike" cap="none" spc="0" baseline="0">
          <a:ln>
            <a:noFill/>
          </a:ln>
          <a:solidFill>
            <a:srgbClr val="087AC0"/>
          </a:solidFill>
          <a:uFillTx/>
          <a:latin typeface="Helvetica LT Std Cond"/>
          <a:ea typeface="Helvetica LT Std Cond"/>
          <a:cs typeface="Helvetica LT Std Cond"/>
          <a:sym typeface="Helvetica LT Std Cond"/>
        </a:defRPr>
      </a:lvl8pPr>
      <a:lvl9pPr marL="0" marR="0" indent="0" algn="l" defTabSz="914400" rtl="0" latinLnBrk="0">
        <a:lnSpc>
          <a:spcPct val="90000"/>
        </a:lnSpc>
        <a:spcBef>
          <a:spcPts val="0"/>
        </a:spcBef>
        <a:spcAft>
          <a:spcPts val="0"/>
        </a:spcAft>
        <a:buClrTx/>
        <a:buSzTx/>
        <a:buFontTx/>
        <a:buNone/>
        <a:defRPr sz="3200" b="1" i="0" u="none" strike="noStrike" cap="none" spc="0" baseline="0">
          <a:ln>
            <a:noFill/>
          </a:ln>
          <a:solidFill>
            <a:srgbClr val="087AC0"/>
          </a:solidFill>
          <a:uFillTx/>
          <a:latin typeface="Helvetica LT Std Cond"/>
          <a:ea typeface="Helvetica LT Std Cond"/>
          <a:cs typeface="Helvetica LT Std Cond"/>
          <a:sym typeface="Helvetica LT Std Cond"/>
        </a:defRPr>
      </a:lvl9pPr>
    </p:titleStyle>
    <p:bodyStyle>
      <a:lvl1pPr marL="228600" marR="0" indent="-228600" algn="l" defTabSz="914400" rtl="0" latinLnBrk="0">
        <a:lnSpc>
          <a:spcPct val="90000"/>
        </a:lnSpc>
        <a:spcBef>
          <a:spcPts val="1000"/>
        </a:spcBef>
        <a:spcAft>
          <a:spcPts val="0"/>
        </a:spcAft>
        <a:buClr>
          <a:srgbClr val="087AC0"/>
        </a:buClr>
        <a:buSzPct val="100000"/>
        <a:buFontTx/>
        <a:buChar char=""/>
        <a:defRPr sz="2800" b="0" i="0" u="none" strike="noStrike" cap="none" spc="0" baseline="0">
          <a:ln>
            <a:noFill/>
          </a:ln>
          <a:solidFill>
            <a:srgbClr val="000000"/>
          </a:solidFill>
          <a:uFillTx/>
          <a:latin typeface="+mn-lt"/>
          <a:ea typeface="+mn-ea"/>
          <a:cs typeface="+mn-cs"/>
          <a:sym typeface="Calibri"/>
        </a:defRPr>
      </a:lvl1pPr>
      <a:lvl2pPr marL="723900" marR="0" indent="-266700" algn="l" defTabSz="914400" rtl="0" latinLnBrk="0">
        <a:lnSpc>
          <a:spcPct val="90000"/>
        </a:lnSpc>
        <a:spcBef>
          <a:spcPts val="1000"/>
        </a:spcBef>
        <a:spcAft>
          <a:spcPts val="0"/>
        </a:spcAft>
        <a:buClr>
          <a:srgbClr val="087AC0"/>
        </a:buClr>
        <a:buSzPct val="100000"/>
        <a:buFontTx/>
        <a:buChar char=""/>
        <a:defRPr sz="2800" b="0" i="0" u="none" strike="noStrike" cap="none" spc="0" baseline="0">
          <a:ln>
            <a:noFill/>
          </a:ln>
          <a:solidFill>
            <a:srgbClr val="000000"/>
          </a:solidFill>
          <a:uFillTx/>
          <a:latin typeface="+mn-lt"/>
          <a:ea typeface="+mn-ea"/>
          <a:cs typeface="+mn-cs"/>
          <a:sym typeface="Calibri"/>
        </a:defRPr>
      </a:lvl2pPr>
      <a:lvl3pPr marL="1234440" marR="0" indent="-320040" algn="l" defTabSz="914400" rtl="0" latinLnBrk="0">
        <a:lnSpc>
          <a:spcPct val="90000"/>
        </a:lnSpc>
        <a:spcBef>
          <a:spcPts val="1000"/>
        </a:spcBef>
        <a:spcAft>
          <a:spcPts val="0"/>
        </a:spcAft>
        <a:buClr>
          <a:srgbClr val="087AC0"/>
        </a:buClr>
        <a:buSzPct val="100000"/>
        <a:buFontTx/>
        <a:buChar char=""/>
        <a:defRPr sz="2800" b="0" i="0" u="none" strike="noStrike" cap="none" spc="0" baseline="0">
          <a:ln>
            <a:noFill/>
          </a:ln>
          <a:solidFill>
            <a:srgbClr val="000000"/>
          </a:solidFill>
          <a:uFillTx/>
          <a:latin typeface="+mn-lt"/>
          <a:ea typeface="+mn-ea"/>
          <a:cs typeface="+mn-cs"/>
          <a:sym typeface="Calibri"/>
        </a:defRPr>
      </a:lvl3pPr>
      <a:lvl4pPr marL="1727200" marR="0" indent="-355600" algn="l" defTabSz="914400" rtl="0" latinLnBrk="0">
        <a:lnSpc>
          <a:spcPct val="90000"/>
        </a:lnSpc>
        <a:spcBef>
          <a:spcPts val="1000"/>
        </a:spcBef>
        <a:spcAft>
          <a:spcPts val="0"/>
        </a:spcAft>
        <a:buClr>
          <a:srgbClr val="087AC0"/>
        </a:buClr>
        <a:buSzPct val="100000"/>
        <a:buFontTx/>
        <a:buChar char=""/>
        <a:defRPr sz="2800" b="0" i="0" u="none" strike="noStrike" cap="none" spc="0" baseline="0">
          <a:ln>
            <a:noFill/>
          </a:ln>
          <a:solidFill>
            <a:srgbClr val="000000"/>
          </a:solidFill>
          <a:uFillTx/>
          <a:latin typeface="+mn-lt"/>
          <a:ea typeface="+mn-ea"/>
          <a:cs typeface="+mn-cs"/>
          <a:sym typeface="Calibri"/>
        </a:defRPr>
      </a:lvl4pPr>
      <a:lvl5pPr marL="2184400" marR="0" indent="-355600" algn="l" defTabSz="914400" rtl="0" latinLnBrk="0">
        <a:lnSpc>
          <a:spcPct val="90000"/>
        </a:lnSpc>
        <a:spcBef>
          <a:spcPts val="1000"/>
        </a:spcBef>
        <a:spcAft>
          <a:spcPts val="0"/>
        </a:spcAft>
        <a:buClr>
          <a:srgbClr val="087AC0"/>
        </a:buClr>
        <a:buSzPct val="100000"/>
        <a:buFontTx/>
        <a:buChar char=""/>
        <a:defRPr sz="2800" b="0" i="0" u="none" strike="noStrike" cap="none" spc="0" baseline="0">
          <a:ln>
            <a:noFill/>
          </a:ln>
          <a:solidFill>
            <a:srgbClr val="000000"/>
          </a:solidFill>
          <a:uFillTx/>
          <a:latin typeface="+mn-lt"/>
          <a:ea typeface="+mn-ea"/>
          <a:cs typeface="+mn-cs"/>
          <a:sym typeface="Calibri"/>
        </a:defRPr>
      </a:lvl5pPr>
      <a:lvl6pPr marL="2641600" marR="0" indent="-355600" algn="l" defTabSz="914400" rtl="0" latinLnBrk="0">
        <a:lnSpc>
          <a:spcPct val="90000"/>
        </a:lnSpc>
        <a:spcBef>
          <a:spcPts val="1000"/>
        </a:spcBef>
        <a:spcAft>
          <a:spcPts val="0"/>
        </a:spcAft>
        <a:buClr>
          <a:srgbClr val="087AC0"/>
        </a:buClr>
        <a:buSzPct val="100000"/>
        <a:buFontTx/>
        <a:buChar char="•"/>
        <a:defRPr sz="2800" b="0" i="0" u="none" strike="noStrike" cap="none" spc="0" baseline="0">
          <a:ln>
            <a:noFill/>
          </a:ln>
          <a:solidFill>
            <a:srgbClr val="000000"/>
          </a:solidFill>
          <a:uFillTx/>
          <a:latin typeface="+mn-lt"/>
          <a:ea typeface="+mn-ea"/>
          <a:cs typeface="+mn-cs"/>
          <a:sym typeface="Calibri"/>
        </a:defRPr>
      </a:lvl6pPr>
      <a:lvl7pPr marL="3098800" marR="0" indent="-355600" algn="l" defTabSz="914400" rtl="0" latinLnBrk="0">
        <a:lnSpc>
          <a:spcPct val="90000"/>
        </a:lnSpc>
        <a:spcBef>
          <a:spcPts val="1000"/>
        </a:spcBef>
        <a:spcAft>
          <a:spcPts val="0"/>
        </a:spcAft>
        <a:buClr>
          <a:srgbClr val="087AC0"/>
        </a:buClr>
        <a:buSzPct val="100000"/>
        <a:buFontTx/>
        <a:buChar char="•"/>
        <a:defRPr sz="2800" b="0" i="0" u="none" strike="noStrike" cap="none" spc="0" baseline="0">
          <a:ln>
            <a:noFill/>
          </a:ln>
          <a:solidFill>
            <a:srgbClr val="000000"/>
          </a:solidFill>
          <a:uFillTx/>
          <a:latin typeface="+mn-lt"/>
          <a:ea typeface="+mn-ea"/>
          <a:cs typeface="+mn-cs"/>
          <a:sym typeface="Calibri"/>
        </a:defRPr>
      </a:lvl7pPr>
      <a:lvl8pPr marL="3556000" marR="0" indent="-355600" algn="l" defTabSz="914400" rtl="0" latinLnBrk="0">
        <a:lnSpc>
          <a:spcPct val="90000"/>
        </a:lnSpc>
        <a:spcBef>
          <a:spcPts val="1000"/>
        </a:spcBef>
        <a:spcAft>
          <a:spcPts val="0"/>
        </a:spcAft>
        <a:buClr>
          <a:srgbClr val="087AC0"/>
        </a:buClr>
        <a:buSzPct val="100000"/>
        <a:buFontTx/>
        <a:buChar char="•"/>
        <a:defRPr sz="2800" b="0" i="0" u="none" strike="noStrike" cap="none" spc="0" baseline="0">
          <a:ln>
            <a:noFill/>
          </a:ln>
          <a:solidFill>
            <a:srgbClr val="000000"/>
          </a:solidFill>
          <a:uFillTx/>
          <a:latin typeface="+mn-lt"/>
          <a:ea typeface="+mn-ea"/>
          <a:cs typeface="+mn-cs"/>
          <a:sym typeface="Calibri"/>
        </a:defRPr>
      </a:lvl8pPr>
      <a:lvl9pPr marL="4013200" marR="0" indent="-355600" algn="l" defTabSz="914400" rtl="0" latinLnBrk="0">
        <a:lnSpc>
          <a:spcPct val="90000"/>
        </a:lnSpc>
        <a:spcBef>
          <a:spcPts val="1000"/>
        </a:spcBef>
        <a:spcAft>
          <a:spcPts val="0"/>
        </a:spcAft>
        <a:buClr>
          <a:srgbClr val="087AC0"/>
        </a:buClr>
        <a:buSzPct val="100000"/>
        <a:buFontTx/>
        <a:buChar char="•"/>
        <a:defRPr sz="2800" b="0" i="0" u="none" strike="noStrike" cap="none" spc="0" baseline="0">
          <a:ln>
            <a:noFill/>
          </a:ln>
          <a:solidFill>
            <a:srgbClr val="000000"/>
          </a:solidFill>
          <a:uFillTx/>
          <a:latin typeface="+mn-lt"/>
          <a:ea typeface="+mn-ea"/>
          <a:cs typeface="+mn-cs"/>
          <a:sym typeface="Calibri"/>
        </a:defRPr>
      </a:lvl9pPr>
    </p:bodyStyle>
    <p:other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Calibri"/>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Calibri"/>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Calibri"/>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Calibri"/>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Calibri"/>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Calibri"/>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Calibri"/>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Calibri"/>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Calibri"/>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
          </p:nvPr>
        </p:nvSpPr>
        <p:spPr>
          <a:xfrm>
            <a:off x="405048" y="1549333"/>
            <a:ext cx="10703527" cy="3903815"/>
          </a:xfrm>
        </p:spPr>
        <p:txBody>
          <a:bodyPr>
            <a:noAutofit/>
          </a:bodyPr>
          <a:lstStyle/>
          <a:p>
            <a:r>
              <a:rPr lang="en-IN" dirty="0" smtClean="0">
                <a:latin typeface="+mn-lt"/>
              </a:rPr>
              <a:t>About Zephyr</a:t>
            </a:r>
            <a:endParaRPr lang="en-IN" dirty="0">
              <a:latin typeface="+mn-lt"/>
            </a:endParaRPr>
          </a:p>
          <a:p>
            <a:r>
              <a:rPr lang="en-US" dirty="0">
                <a:latin typeface="+mn-lt"/>
              </a:rPr>
              <a:t>Features of Zephyr for </a:t>
            </a:r>
            <a:r>
              <a:rPr lang="en-US" dirty="0" smtClean="0">
                <a:latin typeface="+mn-lt"/>
              </a:rPr>
              <a:t>JIRA</a:t>
            </a:r>
          </a:p>
          <a:p>
            <a:r>
              <a:rPr lang="en-US" dirty="0" smtClean="0">
                <a:latin typeface="+mn-lt"/>
              </a:rPr>
              <a:t>Adding Zephyr Plugin to Jira Cloud</a:t>
            </a:r>
            <a:endParaRPr lang="en-US" dirty="0">
              <a:latin typeface="+mn-lt"/>
            </a:endParaRPr>
          </a:p>
          <a:p>
            <a:r>
              <a:rPr lang="en-US" dirty="0">
                <a:latin typeface="+mn-lt"/>
              </a:rPr>
              <a:t>How to use the Zephyr for JIRA test management tool</a:t>
            </a:r>
          </a:p>
          <a:p>
            <a:pPr lvl="1">
              <a:buFont typeface="Courier New" panose="02070309020205020404" pitchFamily="49" charset="0"/>
              <a:buChar char="o"/>
            </a:pPr>
            <a:r>
              <a:rPr lang="en-US" dirty="0">
                <a:latin typeface="+mn-lt"/>
              </a:rPr>
              <a:t>Create a Test</a:t>
            </a:r>
          </a:p>
          <a:p>
            <a:pPr lvl="1">
              <a:buFont typeface="Courier New" panose="02070309020205020404" pitchFamily="49" charset="0"/>
              <a:buChar char="o"/>
            </a:pPr>
            <a:r>
              <a:rPr lang="en-US" dirty="0">
                <a:latin typeface="+mn-lt"/>
              </a:rPr>
              <a:t>Modify and View a Test</a:t>
            </a:r>
          </a:p>
          <a:p>
            <a:pPr lvl="1">
              <a:buFont typeface="Courier New" panose="02070309020205020404" pitchFamily="49" charset="0"/>
              <a:buChar char="o"/>
            </a:pPr>
            <a:r>
              <a:rPr lang="en-US" dirty="0">
                <a:latin typeface="+mn-lt"/>
              </a:rPr>
              <a:t>Create a Test Cycle</a:t>
            </a:r>
          </a:p>
          <a:p>
            <a:pPr lvl="1">
              <a:buFont typeface="Courier New" panose="02070309020205020404" pitchFamily="49" charset="0"/>
              <a:buChar char="o"/>
            </a:pPr>
            <a:r>
              <a:rPr lang="en-US" dirty="0">
                <a:latin typeface="+mn-lt"/>
              </a:rPr>
              <a:t>Add Tests to Test Cycles</a:t>
            </a:r>
          </a:p>
          <a:p>
            <a:pPr lvl="1">
              <a:buFont typeface="Courier New" panose="02070309020205020404" pitchFamily="49" charset="0"/>
              <a:buChar char="o"/>
            </a:pPr>
            <a:r>
              <a:rPr lang="en-US" dirty="0">
                <a:latin typeface="+mn-lt"/>
              </a:rPr>
              <a:t>Assign Test Executions</a:t>
            </a:r>
          </a:p>
          <a:p>
            <a:pPr lvl="1">
              <a:buFont typeface="Courier New" panose="02070309020205020404" pitchFamily="49" charset="0"/>
              <a:buChar char="o"/>
            </a:pPr>
            <a:r>
              <a:rPr lang="en-US" dirty="0">
                <a:latin typeface="+mn-lt"/>
              </a:rPr>
              <a:t>Execute the Tests</a:t>
            </a:r>
          </a:p>
          <a:p>
            <a:pPr lvl="1">
              <a:buFont typeface="Courier New" panose="02070309020205020404" pitchFamily="49" charset="0"/>
              <a:buChar char="o"/>
            </a:pPr>
            <a:r>
              <a:rPr lang="en-US" dirty="0">
                <a:latin typeface="+mn-lt"/>
              </a:rPr>
              <a:t>View Testing Progress</a:t>
            </a:r>
          </a:p>
        </p:txBody>
      </p:sp>
      <p:sp>
        <p:nvSpPr>
          <p:cNvPr id="3" name="Title 2"/>
          <p:cNvSpPr>
            <a:spLocks noGrp="1"/>
          </p:cNvSpPr>
          <p:nvPr>
            <p:ph type="title"/>
          </p:nvPr>
        </p:nvSpPr>
        <p:spPr>
          <a:xfrm>
            <a:off x="603618" y="234639"/>
            <a:ext cx="8039005" cy="369812"/>
          </a:xfrm>
        </p:spPr>
        <p:txBody>
          <a:bodyPr>
            <a:normAutofit fontScale="90000"/>
          </a:bodyPr>
          <a:lstStyle/>
          <a:p>
            <a:pPr lvl="0"/>
            <a:r>
              <a:rPr lang="en-US" dirty="0"/>
              <a:t>Table of Contents – Day 1</a:t>
            </a:r>
            <a:endParaRPr lang="en-IN" dirty="0">
              <a:solidFill>
                <a:schemeClr val="tx1"/>
              </a:solidFill>
            </a:endParaRPr>
          </a:p>
        </p:txBody>
      </p:sp>
      <p:sp>
        <p:nvSpPr>
          <p:cNvPr id="5" name="Rectangle 1"/>
          <p:cNvSpPr>
            <a:spLocks noChangeArrowheads="1"/>
          </p:cNvSpPr>
          <p:nvPr/>
        </p:nvSpPr>
        <p:spPr bwMode="auto">
          <a:xfrm>
            <a:off x="4413250" y="2808288"/>
            <a:ext cx="12192000" cy="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sz="1800" b="0" i="0" u="none" strike="noStrike" cap="none" normalizeH="0" baseline="0">
                <a:ln>
                  <a:noFill/>
                </a:ln>
                <a:solidFill>
                  <a:schemeClr val="tx1"/>
                </a:solidFill>
                <a:effectLst/>
                <a:latin typeface="Arial" panose="020B0704020202020204" pitchFamily="34" charset="0"/>
                <a:cs typeface="Arial" panose="020B0704020202020204" pitchFamily="34" charset="0"/>
              </a:rPr>
              <a:t/>
            </a:r>
            <a:br>
              <a:rPr kumimoji="0" lang="en-US" sz="1800" b="0" i="0" u="none" strike="noStrike" cap="none" normalizeH="0" baseline="0">
                <a:ln>
                  <a:noFill/>
                </a:ln>
                <a:solidFill>
                  <a:schemeClr val="tx1"/>
                </a:solidFill>
                <a:effectLst/>
                <a:latin typeface="Arial" panose="020B0704020202020204" pitchFamily="34" charset="0"/>
                <a:cs typeface="Arial" panose="020B0704020202020204" pitchFamily="34" charset="0"/>
              </a:rPr>
            </a:br>
            <a:endParaRPr kumimoji="0" lang="en-US" sz="1800" b="0" i="0" u="none" strike="noStrike" cap="none" normalizeH="0" baseline="0">
              <a:ln>
                <a:noFill/>
              </a:ln>
              <a:solidFill>
                <a:schemeClr val="tx1"/>
              </a:solidFill>
              <a:effectLst/>
              <a:latin typeface="Arial" panose="020B0704020202020204" pitchFamily="34" charset="0"/>
              <a:cs typeface="Arial" panose="020B0704020202020204" pitchFamily="34" charset="0"/>
            </a:endParaRPr>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
          </p:nvPr>
        </p:nvSpPr>
        <p:spPr>
          <a:xfrm>
            <a:off x="391193" y="1826424"/>
            <a:ext cx="10703527" cy="3903815"/>
          </a:xfrm>
        </p:spPr>
        <p:txBody>
          <a:bodyPr>
            <a:noAutofit/>
          </a:bodyPr>
          <a:lstStyle/>
          <a:p>
            <a:r>
              <a:rPr lang="en-US" b="1" dirty="0">
                <a:latin typeface="+mn-lt"/>
              </a:rPr>
              <a:t>Zephyr for JIRA </a:t>
            </a:r>
            <a:r>
              <a:rPr lang="en-US" dirty="0">
                <a:latin typeface="+mn-lt"/>
              </a:rPr>
              <a:t>is a native application that exists in JIRA and brings quality test management capabilities to any JIRA project. </a:t>
            </a:r>
            <a:endParaRPr lang="en-US" dirty="0" smtClean="0">
              <a:latin typeface="+mn-lt"/>
            </a:endParaRPr>
          </a:p>
          <a:p>
            <a:r>
              <a:rPr lang="en-US" dirty="0" smtClean="0">
                <a:latin typeface="+mn-lt"/>
              </a:rPr>
              <a:t>When </a:t>
            </a:r>
            <a:r>
              <a:rPr lang="en-US" dirty="0">
                <a:latin typeface="+mn-lt"/>
              </a:rPr>
              <a:t>Zephyr is used with JIRA, the test can be created, viewed in any JIRA project, and executed immediately or as part of a testing cycle that may be linked to other issues. </a:t>
            </a:r>
            <a:endParaRPr lang="en-US" dirty="0" smtClean="0">
              <a:latin typeface="+mn-lt"/>
            </a:endParaRPr>
          </a:p>
          <a:p>
            <a:r>
              <a:rPr lang="en-US" dirty="0" smtClean="0">
                <a:latin typeface="+mn-lt"/>
              </a:rPr>
              <a:t>The </a:t>
            </a:r>
            <a:r>
              <a:rPr lang="en-US" dirty="0">
                <a:latin typeface="+mn-lt"/>
              </a:rPr>
              <a:t>detailed testing metrics can be tracked via customizable Zephyr gadgets</a:t>
            </a:r>
            <a:r>
              <a:rPr lang="en-US" dirty="0" smtClean="0">
                <a:latin typeface="+mn-lt"/>
              </a:rPr>
              <a:t>.</a:t>
            </a:r>
          </a:p>
          <a:p>
            <a:endParaRPr lang="en-US" dirty="0">
              <a:latin typeface="+mn-lt"/>
            </a:endParaRPr>
          </a:p>
          <a:p>
            <a:pPr marL="0" indent="0">
              <a:buNone/>
            </a:pPr>
            <a:r>
              <a:rPr lang="en-US" b="1" dirty="0">
                <a:latin typeface="+mn-lt"/>
              </a:rPr>
              <a:t>Zephyr provides multiple deployment options:</a:t>
            </a:r>
          </a:p>
          <a:p>
            <a:r>
              <a:rPr lang="en-US" dirty="0">
                <a:latin typeface="+mn-lt"/>
              </a:rPr>
              <a:t>Zephyr for JIRA Cloud</a:t>
            </a:r>
          </a:p>
          <a:p>
            <a:r>
              <a:rPr lang="en-US" dirty="0">
                <a:latin typeface="+mn-lt"/>
              </a:rPr>
              <a:t>Zephyr for JIRA Server</a:t>
            </a:r>
          </a:p>
          <a:p>
            <a:r>
              <a:rPr lang="en-US" dirty="0">
                <a:latin typeface="+mn-lt"/>
              </a:rPr>
              <a:t>Zephyr for JIRA Data Center</a:t>
            </a:r>
          </a:p>
          <a:p>
            <a:endParaRPr lang="en-IN" dirty="0">
              <a:latin typeface="+mn-lt"/>
            </a:endParaRPr>
          </a:p>
        </p:txBody>
      </p:sp>
      <p:sp>
        <p:nvSpPr>
          <p:cNvPr id="3" name="Title 2"/>
          <p:cNvSpPr>
            <a:spLocks noGrp="1"/>
          </p:cNvSpPr>
          <p:nvPr>
            <p:ph type="title"/>
          </p:nvPr>
        </p:nvSpPr>
        <p:spPr>
          <a:xfrm>
            <a:off x="603618" y="234639"/>
            <a:ext cx="8039005" cy="369812"/>
          </a:xfrm>
        </p:spPr>
        <p:txBody>
          <a:bodyPr>
            <a:normAutofit fontScale="90000"/>
          </a:bodyPr>
          <a:lstStyle/>
          <a:p>
            <a:pPr lvl="0"/>
            <a:r>
              <a:rPr lang="en-IN" dirty="0" smtClean="0"/>
              <a:t>About Zephyr</a:t>
            </a:r>
            <a:endParaRPr lang="en-IN" dirty="0">
              <a:solidFill>
                <a:schemeClr val="tx1"/>
              </a:solidFill>
            </a:endParaRPr>
          </a:p>
        </p:txBody>
      </p:sp>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603618" y="234639"/>
            <a:ext cx="8039005" cy="369812"/>
          </a:xfrm>
        </p:spPr>
        <p:txBody>
          <a:bodyPr>
            <a:normAutofit fontScale="90000"/>
          </a:bodyPr>
          <a:lstStyle/>
          <a:p>
            <a:r>
              <a:rPr lang="en-US" dirty="0"/>
              <a:t>Features of Zephyr for JIRA</a:t>
            </a:r>
          </a:p>
        </p:txBody>
      </p:sp>
      <p:sp>
        <p:nvSpPr>
          <p:cNvPr id="5" name="Content Placeholder 4"/>
          <p:cNvSpPr>
            <a:spLocks noGrp="1"/>
          </p:cNvSpPr>
          <p:nvPr>
            <p:ph sz="half" idx="1"/>
          </p:nvPr>
        </p:nvSpPr>
        <p:spPr/>
        <p:txBody>
          <a:bodyPr/>
          <a:lstStyle/>
          <a:p>
            <a:r>
              <a:rPr lang="en-US" dirty="0">
                <a:latin typeface="+mn-lt"/>
              </a:rPr>
              <a:t>Native to JIRA allowing users to test right inside JIRA</a:t>
            </a:r>
          </a:p>
          <a:p>
            <a:pPr lvl="1"/>
            <a:r>
              <a:rPr lang="en-US" dirty="0">
                <a:latin typeface="+mn-lt"/>
              </a:rPr>
              <a:t>Testing is integrated into the project cycles and it enables you to track software quality and make empowered go/no-go decisions.</a:t>
            </a:r>
          </a:p>
          <a:p>
            <a:r>
              <a:rPr lang="en-US" dirty="0">
                <a:latin typeface="+mn-lt"/>
              </a:rPr>
              <a:t>Create, Plan, and Execute Tests</a:t>
            </a:r>
          </a:p>
          <a:p>
            <a:pPr lvl="1"/>
            <a:r>
              <a:rPr lang="en-US" dirty="0">
                <a:latin typeface="+mn-lt"/>
              </a:rPr>
              <a:t>Create, view, and modify test steps and attachments for individual tests. Build test execution cycles, execute the tests, and link defects to specific tests.</a:t>
            </a:r>
          </a:p>
          <a:p>
            <a:r>
              <a:rPr lang="en-US" dirty="0">
                <a:latin typeface="+mn-lt"/>
              </a:rPr>
              <a:t>Track Quality Metrics</a:t>
            </a:r>
          </a:p>
          <a:p>
            <a:pPr lvl="1"/>
            <a:r>
              <a:rPr lang="en-US" dirty="0">
                <a:latin typeface="+mn-lt"/>
              </a:rPr>
              <a:t>Zephyr provides easy-to-use dashboard which provides testing metrics on the testing activities throughout every project.</a:t>
            </a:r>
          </a:p>
        </p:txBody>
      </p:sp>
    </p:spTree>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603618" y="234639"/>
            <a:ext cx="8039005" cy="369812"/>
          </a:xfrm>
        </p:spPr>
        <p:txBody>
          <a:bodyPr>
            <a:normAutofit fontScale="90000"/>
          </a:bodyPr>
          <a:lstStyle/>
          <a:p>
            <a:r>
              <a:rPr lang="en-US" dirty="0"/>
              <a:t>Adding Zephyr Plugin to Jira Cloud</a:t>
            </a:r>
          </a:p>
        </p:txBody>
      </p:sp>
      <p:sp>
        <p:nvSpPr>
          <p:cNvPr id="5" name="Content Placeholder 4"/>
          <p:cNvSpPr>
            <a:spLocks noGrp="1"/>
          </p:cNvSpPr>
          <p:nvPr>
            <p:ph sz="half" idx="1"/>
          </p:nvPr>
        </p:nvSpPr>
        <p:spPr/>
        <p:txBody>
          <a:bodyPr>
            <a:normAutofit/>
          </a:bodyPr>
          <a:lstStyle/>
          <a:p>
            <a:r>
              <a:rPr lang="en-US" sz="1800" dirty="0" smtClean="0">
                <a:latin typeface="+mn-lt"/>
              </a:rPr>
              <a:t>We need to add the Zephyr plugin to the Jira Board</a:t>
            </a:r>
          </a:p>
          <a:p>
            <a:r>
              <a:rPr lang="en-US" sz="1800" dirty="0" smtClean="0">
                <a:latin typeface="+mn-lt"/>
              </a:rPr>
              <a:t>Go to Settings -&gt; Apps –&gt; Search for Zephyr in Marketplace -&gt; Add Free Trial</a:t>
            </a:r>
          </a:p>
          <a:p>
            <a:endParaRPr lang="en-US" sz="1800" dirty="0">
              <a:latin typeface="+mn-lt"/>
            </a:endParaRPr>
          </a:p>
          <a:p>
            <a:endParaRPr lang="en-US" sz="1800" dirty="0" smtClean="0">
              <a:latin typeface="+mn-lt"/>
            </a:endParaRPr>
          </a:p>
          <a:p>
            <a:endParaRPr lang="en-US" sz="1800" dirty="0">
              <a:latin typeface="+mn-lt"/>
            </a:endParaRPr>
          </a:p>
          <a:p>
            <a:pPr>
              <a:buFont typeface="Wingdings" panose="05000000000000000000" pitchFamily="2" charset="2"/>
              <a:buChar char="v"/>
            </a:pPr>
            <a:r>
              <a:rPr lang="en-US" sz="1800" b="1" dirty="0" smtClean="0">
                <a:latin typeface="+mn-lt"/>
              </a:rPr>
              <a:t>Ensure that “Test” has been added as a Issues Type in Jira</a:t>
            </a:r>
          </a:p>
          <a:p>
            <a:pPr lvl="1"/>
            <a:r>
              <a:rPr lang="en-IN" sz="1800" dirty="0" smtClean="0">
                <a:latin typeface="+mn-lt"/>
              </a:rPr>
              <a:t>Settings -&gt; Issues -&gt; Issue Type Scheme- &gt;Click Edit -&gt; Add Test to your project</a:t>
            </a:r>
            <a:endParaRPr lang="en-IN" sz="1800" dirty="0">
              <a:latin typeface="+mn-lt"/>
            </a:endParaRPr>
          </a:p>
        </p:txBody>
      </p:sp>
    </p:spTree>
  </p:cSld>
  <p:clrMapOvr>
    <a:masterClrMapping/>
  </p:clrMapOvr>
  <p:transition spd="med"/>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603618" y="234639"/>
            <a:ext cx="8039005" cy="369812"/>
          </a:xfrm>
        </p:spPr>
        <p:txBody>
          <a:bodyPr>
            <a:normAutofit fontScale="90000"/>
          </a:bodyPr>
          <a:lstStyle/>
          <a:p>
            <a:pPr lvl="0"/>
            <a:r>
              <a:rPr lang="en-IN" dirty="0" smtClean="0"/>
              <a:t>Create a Test</a:t>
            </a:r>
            <a:endParaRPr lang="en-IN" dirty="0">
              <a:solidFill>
                <a:schemeClr val="tx1"/>
              </a:solidFill>
            </a:endParaRPr>
          </a:p>
        </p:txBody>
      </p:sp>
      <p:sp>
        <p:nvSpPr>
          <p:cNvPr id="5" name="Content Placeholder 4"/>
          <p:cNvSpPr>
            <a:spLocks noGrp="1"/>
          </p:cNvSpPr>
          <p:nvPr>
            <p:ph sz="half" idx="1"/>
          </p:nvPr>
        </p:nvSpPr>
        <p:spPr>
          <a:xfrm>
            <a:off x="500644" y="855808"/>
            <a:ext cx="10622576" cy="4572241"/>
          </a:xfrm>
        </p:spPr>
        <p:txBody>
          <a:bodyPr>
            <a:normAutofit lnSpcReduction="10000"/>
          </a:bodyPr>
          <a:lstStyle/>
          <a:p>
            <a:r>
              <a:rPr lang="en-US" sz="1800" dirty="0">
                <a:latin typeface="+mn-lt"/>
              </a:rPr>
              <a:t>To create a test case (issue with type '</a:t>
            </a:r>
            <a:r>
              <a:rPr lang="en-US" sz="1800" b="1" dirty="0">
                <a:latin typeface="+mn-lt"/>
              </a:rPr>
              <a:t>test</a:t>
            </a:r>
            <a:r>
              <a:rPr lang="en-US" sz="1800" dirty="0">
                <a:latin typeface="+mn-lt"/>
              </a:rPr>
              <a:t>'), simply click on the '</a:t>
            </a:r>
            <a:r>
              <a:rPr lang="en-US" sz="1800" b="1" dirty="0">
                <a:latin typeface="+mn-lt"/>
              </a:rPr>
              <a:t>Create</a:t>
            </a:r>
            <a:r>
              <a:rPr lang="en-US" sz="1800" dirty="0">
                <a:latin typeface="+mn-lt"/>
              </a:rPr>
              <a:t>' button located in the top menu navigation</a:t>
            </a:r>
            <a:r>
              <a:rPr lang="en-US" sz="1800" dirty="0" smtClean="0">
                <a:latin typeface="+mn-lt"/>
              </a:rPr>
              <a:t>.</a:t>
            </a:r>
          </a:p>
          <a:p>
            <a:r>
              <a:rPr lang="en-US" sz="1800" dirty="0">
                <a:latin typeface="+mn-lt"/>
              </a:rPr>
              <a:t>The '</a:t>
            </a:r>
            <a:r>
              <a:rPr lang="en-US" sz="1800" b="1" dirty="0">
                <a:latin typeface="+mn-lt"/>
              </a:rPr>
              <a:t>Create Issue</a:t>
            </a:r>
            <a:r>
              <a:rPr lang="en-US" sz="1800" dirty="0">
                <a:latin typeface="+mn-lt"/>
              </a:rPr>
              <a:t>' module will appear with the following fields when creating a test case. The required fields for a test case are the following</a:t>
            </a:r>
            <a:r>
              <a:rPr lang="en-US" sz="1800" dirty="0" smtClean="0">
                <a:latin typeface="+mn-lt"/>
              </a:rPr>
              <a:t>:</a:t>
            </a:r>
          </a:p>
          <a:p>
            <a:pPr lvl="1"/>
            <a:r>
              <a:rPr lang="en-US" sz="1800" b="1" dirty="0" smtClean="0">
                <a:latin typeface="+mn-lt"/>
              </a:rPr>
              <a:t>Project</a:t>
            </a:r>
            <a:r>
              <a:rPr lang="en-US" sz="1800" dirty="0">
                <a:latin typeface="+mn-lt"/>
              </a:rPr>
              <a:t> – The name of the project that the test case is being placed after creation.</a:t>
            </a:r>
          </a:p>
          <a:p>
            <a:pPr lvl="1"/>
            <a:r>
              <a:rPr lang="en-US" sz="1800" b="1" dirty="0">
                <a:latin typeface="+mn-lt"/>
              </a:rPr>
              <a:t>Issue Type</a:t>
            </a:r>
            <a:r>
              <a:rPr lang="en-US" sz="1800" dirty="0">
                <a:latin typeface="+mn-lt"/>
              </a:rPr>
              <a:t> – The issue type for the test case (in this case, we'll select '</a:t>
            </a:r>
            <a:r>
              <a:rPr lang="en-US" sz="1800" b="1" dirty="0">
                <a:latin typeface="+mn-lt"/>
              </a:rPr>
              <a:t>Test</a:t>
            </a:r>
            <a:r>
              <a:rPr lang="en-US" sz="1800" dirty="0">
                <a:latin typeface="+mn-lt"/>
              </a:rPr>
              <a:t>').</a:t>
            </a:r>
          </a:p>
          <a:p>
            <a:pPr lvl="1"/>
            <a:r>
              <a:rPr lang="en-US" sz="1800" b="1" dirty="0">
                <a:latin typeface="+mn-lt"/>
              </a:rPr>
              <a:t>Summary</a:t>
            </a:r>
            <a:r>
              <a:rPr lang="en-US" sz="1800" dirty="0">
                <a:latin typeface="+mn-lt"/>
              </a:rPr>
              <a:t> – The name/title for the test case.</a:t>
            </a:r>
          </a:p>
          <a:p>
            <a:pPr lvl="1"/>
            <a:r>
              <a:rPr lang="en-US" sz="1800" b="1" dirty="0">
                <a:latin typeface="+mn-lt"/>
              </a:rPr>
              <a:t>Reporter</a:t>
            </a:r>
            <a:r>
              <a:rPr lang="en-US" sz="1800" dirty="0">
                <a:latin typeface="+mn-lt"/>
              </a:rPr>
              <a:t> – The name of the individual creating the test case.</a:t>
            </a:r>
          </a:p>
          <a:p>
            <a:endParaRPr lang="en-US" sz="1800" b="1" dirty="0">
              <a:latin typeface="+mn-lt"/>
            </a:endParaRPr>
          </a:p>
          <a:p>
            <a:r>
              <a:rPr lang="en-US" sz="1800" dirty="0">
                <a:latin typeface="+mn-lt"/>
              </a:rPr>
              <a:t>Once the required fields are filled out, users can scroll to the bottom of the interface and create test steps for the test case which includes the following information for each test step</a:t>
            </a:r>
            <a:r>
              <a:rPr lang="en-US" sz="1800" dirty="0" smtClean="0">
                <a:latin typeface="+mn-lt"/>
              </a:rPr>
              <a:t>:</a:t>
            </a:r>
          </a:p>
          <a:p>
            <a:pPr lvl="1"/>
            <a:r>
              <a:rPr lang="en-US" sz="1800" b="1" dirty="0" smtClean="0">
                <a:latin typeface="+mn-lt"/>
              </a:rPr>
              <a:t>Test </a:t>
            </a:r>
            <a:r>
              <a:rPr lang="en-US" sz="1800" b="1" dirty="0">
                <a:latin typeface="+mn-lt"/>
              </a:rPr>
              <a:t>Step</a:t>
            </a:r>
            <a:r>
              <a:rPr lang="en-US" sz="1800" dirty="0">
                <a:latin typeface="+mn-lt"/>
              </a:rPr>
              <a:t> – Description of the test step/action that needs to be performed for this individual step.</a:t>
            </a:r>
          </a:p>
          <a:p>
            <a:pPr lvl="1"/>
            <a:r>
              <a:rPr lang="en-US" sz="1800" b="1" dirty="0">
                <a:latin typeface="+mn-lt"/>
              </a:rPr>
              <a:t>Test Data</a:t>
            </a:r>
            <a:r>
              <a:rPr lang="en-US" sz="1800" dirty="0">
                <a:latin typeface="+mn-lt"/>
              </a:rPr>
              <a:t> – Any data that is required for the test step to be performed.</a:t>
            </a:r>
          </a:p>
          <a:p>
            <a:pPr lvl="1"/>
            <a:r>
              <a:rPr lang="en-US" sz="1800" b="1" dirty="0">
                <a:latin typeface="+mn-lt"/>
              </a:rPr>
              <a:t>Expected Result</a:t>
            </a:r>
            <a:r>
              <a:rPr lang="en-US" sz="1800" dirty="0">
                <a:latin typeface="+mn-lt"/>
              </a:rPr>
              <a:t> – The expected result after performing the actions for this individual step.</a:t>
            </a:r>
          </a:p>
          <a:p>
            <a:endParaRPr lang="en-IN" sz="1800" dirty="0">
              <a:latin typeface="+mn-lt"/>
            </a:endParaRPr>
          </a:p>
        </p:txBody>
      </p:sp>
    </p:spTree>
  </p:cSld>
  <p:clrMapOvr>
    <a:masterClrMapping/>
  </p:clrMapOvr>
  <p:transition spd="med"/>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603618" y="234639"/>
            <a:ext cx="8039005" cy="369812"/>
          </a:xfrm>
        </p:spPr>
        <p:txBody>
          <a:bodyPr>
            <a:normAutofit fontScale="90000"/>
          </a:bodyPr>
          <a:lstStyle/>
          <a:p>
            <a:pPr lvl="0"/>
            <a:r>
              <a:rPr lang="en-IN" dirty="0" smtClean="0"/>
              <a:t>Modify And View a Test Case</a:t>
            </a:r>
            <a:endParaRPr lang="en-IN" dirty="0">
              <a:solidFill>
                <a:schemeClr val="tx1"/>
              </a:solidFill>
            </a:endParaRPr>
          </a:p>
        </p:txBody>
      </p:sp>
      <p:sp>
        <p:nvSpPr>
          <p:cNvPr id="5" name="Content Placeholder 4"/>
          <p:cNvSpPr>
            <a:spLocks noGrp="1"/>
          </p:cNvSpPr>
          <p:nvPr>
            <p:ph sz="half" idx="1"/>
          </p:nvPr>
        </p:nvSpPr>
        <p:spPr/>
        <p:txBody>
          <a:bodyPr/>
          <a:lstStyle/>
          <a:p>
            <a:r>
              <a:rPr lang="en-US" sz="2800" dirty="0" smtClean="0">
                <a:latin typeface="+mn-lt"/>
              </a:rPr>
              <a:t>We can edit and modify the already written test cases</a:t>
            </a:r>
          </a:p>
          <a:p>
            <a:r>
              <a:rPr lang="en-US" sz="2800" dirty="0" smtClean="0">
                <a:latin typeface="+mn-lt"/>
              </a:rPr>
              <a:t>Search for Test Cases – Go to Filters . And click as below </a:t>
            </a:r>
          </a:p>
          <a:p>
            <a:endParaRPr lang="en-US" sz="2800" dirty="0" smtClean="0">
              <a:latin typeface="+mn-lt"/>
            </a:endParaRPr>
          </a:p>
          <a:p>
            <a:endParaRPr lang="en-US" sz="2800" dirty="0" smtClean="0">
              <a:latin typeface="+mn-lt"/>
            </a:endParaRPr>
          </a:p>
          <a:p>
            <a:endParaRPr lang="en-US" sz="2800" dirty="0" smtClean="0">
              <a:latin typeface="+mn-lt"/>
            </a:endParaRPr>
          </a:p>
          <a:p>
            <a:endParaRPr lang="en-US" sz="2800" dirty="0" smtClean="0">
              <a:latin typeface="+mn-lt"/>
            </a:endParaRPr>
          </a:p>
          <a:p>
            <a:endParaRPr lang="en-US" sz="2800" dirty="0" smtClean="0">
              <a:latin typeface="+mn-lt"/>
            </a:endParaRPr>
          </a:p>
          <a:p>
            <a:r>
              <a:rPr lang="en-US" sz="2800" dirty="0" smtClean="0">
                <a:latin typeface="+mn-lt"/>
              </a:rPr>
              <a:t>Select Issue Type as “Test” . You will see all the test Cases.</a:t>
            </a:r>
          </a:p>
          <a:p>
            <a:r>
              <a:rPr lang="en-US" sz="2800" dirty="0" smtClean="0">
                <a:latin typeface="+mn-lt"/>
              </a:rPr>
              <a:t>Click on any , and you will be able to edit the same.</a:t>
            </a:r>
          </a:p>
          <a:p>
            <a:pPr lvl="1"/>
            <a:endParaRPr lang="en-US" sz="1800" dirty="0" smtClean="0">
              <a:latin typeface="+mn-lt"/>
            </a:endParaRPr>
          </a:p>
          <a:p>
            <a:endParaRPr lang="en-US" sz="2000" dirty="0">
              <a:latin typeface="+mn-lt"/>
            </a:endParaRPr>
          </a:p>
        </p:txBody>
      </p:sp>
      <p:pic>
        <p:nvPicPr>
          <p:cNvPr id="2" name="Picture 1"/>
          <p:cNvPicPr>
            <a:picLocks noChangeAspect="1"/>
          </p:cNvPicPr>
          <p:nvPr/>
        </p:nvPicPr>
        <p:blipFill>
          <a:blip r:embed="rId3"/>
          <a:stretch>
            <a:fillRect/>
          </a:stretch>
        </p:blipFill>
        <p:spPr>
          <a:xfrm>
            <a:off x="1120486" y="2768311"/>
            <a:ext cx="6968362" cy="1734416"/>
          </a:xfrm>
          <a:prstGeom prst="rect">
            <a:avLst/>
          </a:prstGeom>
        </p:spPr>
      </p:pic>
    </p:spTree>
  </p:cSld>
  <p:clrMapOvr>
    <a:masterClrMapping/>
  </p:clrMapOvr>
  <p:transition spd="med"/>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603618" y="234639"/>
            <a:ext cx="8039005" cy="369812"/>
          </a:xfrm>
        </p:spPr>
        <p:txBody>
          <a:bodyPr>
            <a:normAutofit fontScale="90000"/>
          </a:bodyPr>
          <a:lstStyle/>
          <a:p>
            <a:pPr lvl="0"/>
            <a:r>
              <a:rPr lang="en-IN" dirty="0" smtClean="0"/>
              <a:t>Create a Test Cycle</a:t>
            </a:r>
            <a:endParaRPr lang="en-IN" dirty="0">
              <a:solidFill>
                <a:schemeClr val="tx1"/>
              </a:solidFill>
            </a:endParaRPr>
          </a:p>
        </p:txBody>
      </p:sp>
      <p:sp>
        <p:nvSpPr>
          <p:cNvPr id="5" name="Content Placeholder 4"/>
          <p:cNvSpPr>
            <a:spLocks noGrp="1"/>
          </p:cNvSpPr>
          <p:nvPr>
            <p:ph sz="half" idx="1"/>
          </p:nvPr>
        </p:nvSpPr>
        <p:spPr>
          <a:xfrm>
            <a:off x="500645" y="853609"/>
            <a:ext cx="10622576" cy="5017785"/>
          </a:xfrm>
        </p:spPr>
        <p:txBody>
          <a:bodyPr>
            <a:normAutofit/>
          </a:bodyPr>
          <a:lstStyle/>
          <a:p>
            <a:r>
              <a:rPr lang="en-US" sz="1800" dirty="0"/>
              <a:t>Test Cycles are used to set up and execute tests in a structured manner. This allows tests to be grouped logically and executed in a structured fashion. It also allows for the tracking of progress and reporting of quality metrics</a:t>
            </a:r>
            <a:r>
              <a:rPr lang="en-US" sz="1800" dirty="0" smtClean="0"/>
              <a:t>.</a:t>
            </a:r>
          </a:p>
          <a:p>
            <a:endParaRPr lang="en-US" sz="1800" dirty="0"/>
          </a:p>
          <a:p>
            <a:r>
              <a:rPr lang="en-US" sz="1800" dirty="0"/>
              <a:t>To create a test cycle, click on the '</a:t>
            </a:r>
            <a:r>
              <a:rPr lang="en-US" sz="1800" b="1" dirty="0"/>
              <a:t>Cycle Summary</a:t>
            </a:r>
            <a:r>
              <a:rPr lang="en-US" sz="1800" dirty="0"/>
              <a:t>' tab </a:t>
            </a:r>
          </a:p>
          <a:p>
            <a:endParaRPr lang="en-US" sz="1800" dirty="0"/>
          </a:p>
          <a:p>
            <a:endParaRPr lang="en-US" sz="1800" dirty="0"/>
          </a:p>
        </p:txBody>
      </p:sp>
      <p:pic>
        <p:nvPicPr>
          <p:cNvPr id="2" name="Picture 1"/>
          <p:cNvPicPr>
            <a:picLocks noChangeAspect="1"/>
          </p:cNvPicPr>
          <p:nvPr/>
        </p:nvPicPr>
        <p:blipFill>
          <a:blip r:embed="rId3"/>
          <a:stretch>
            <a:fillRect/>
          </a:stretch>
        </p:blipFill>
        <p:spPr>
          <a:xfrm>
            <a:off x="5929314" y="1853478"/>
            <a:ext cx="6157912" cy="3601883"/>
          </a:xfrm>
          <a:prstGeom prst="rect">
            <a:avLst/>
          </a:prstGeom>
        </p:spPr>
      </p:pic>
      <p:sp>
        <p:nvSpPr>
          <p:cNvPr id="4" name="TextBox 3"/>
          <p:cNvSpPr txBox="1"/>
          <p:nvPr/>
        </p:nvSpPr>
        <p:spPr>
          <a:xfrm>
            <a:off x="603618" y="1976548"/>
            <a:ext cx="5325695" cy="452431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r>
              <a:rPr lang="en-US" b="1" dirty="0"/>
              <a:t>Version</a:t>
            </a:r>
            <a:r>
              <a:rPr lang="en-US" dirty="0"/>
              <a:t> – Shows the list of versions that exist for this project.</a:t>
            </a:r>
          </a:p>
          <a:p>
            <a:r>
              <a:rPr lang="en-US" b="1" dirty="0"/>
              <a:t>Name</a:t>
            </a:r>
            <a:r>
              <a:rPr lang="en-US" dirty="0"/>
              <a:t> – Name of the test cycle (this is a required field).</a:t>
            </a:r>
          </a:p>
          <a:p>
            <a:r>
              <a:rPr lang="en-US" b="1" dirty="0"/>
              <a:t>Description</a:t>
            </a:r>
            <a:r>
              <a:rPr lang="en-US" dirty="0"/>
              <a:t> – A description given for the test cycle.</a:t>
            </a:r>
          </a:p>
          <a:p>
            <a:r>
              <a:rPr lang="en-US" b="1" dirty="0"/>
              <a:t>Build</a:t>
            </a:r>
            <a:r>
              <a:rPr lang="en-US" dirty="0"/>
              <a:t> – This is an informational field only for further detail on the build (if any).</a:t>
            </a:r>
          </a:p>
          <a:p>
            <a:r>
              <a:rPr lang="en-US" b="1" dirty="0"/>
              <a:t>Environment </a:t>
            </a:r>
            <a:r>
              <a:rPr lang="en-US" dirty="0"/>
              <a:t>– This is an information field only for further detail on the environment (if any).</a:t>
            </a:r>
          </a:p>
          <a:p>
            <a:r>
              <a:rPr lang="en-US" b="1" dirty="0"/>
              <a:t>From</a:t>
            </a:r>
            <a:r>
              <a:rPr lang="en-US" dirty="0"/>
              <a:t> – The start date of the testing cycle.</a:t>
            </a:r>
          </a:p>
          <a:p>
            <a:r>
              <a:rPr lang="en-US" b="1" dirty="0"/>
              <a:t>To</a:t>
            </a:r>
            <a:r>
              <a:rPr lang="en-US" dirty="0"/>
              <a:t> – The end date of the testing cycle. The end date is not necessarily enforced (users can continue adding tests to the test cycle and executing them beyond this date).</a:t>
            </a:r>
          </a:p>
          <a:p>
            <a:endParaRPr lang="en-US" dirty="0"/>
          </a:p>
          <a:p>
            <a:endParaRPr lang="en-IN" dirty="0"/>
          </a:p>
          <a:p>
            <a:pPr marL="0" marR="0" indent="0" algn="l" defTabSz="914400" rtl="0" fontAlgn="auto" latinLnBrk="0" hangingPunct="0">
              <a:lnSpc>
                <a:spcPct val="100000"/>
              </a:lnSpc>
              <a:spcBef>
                <a:spcPts val="0"/>
              </a:spcBef>
              <a:spcAft>
                <a:spcPts val="0"/>
              </a:spcAft>
              <a:buClrTx/>
              <a:buSzTx/>
              <a:buFontTx/>
              <a:buNone/>
            </a:pPr>
            <a:endParaRPr kumimoji="0" lang="en-US" sz="1800" b="0" i="0" u="none" strike="noStrike" cap="none" spc="0" normalizeH="0" baseline="0" dirty="0">
              <a:ln>
                <a:noFill/>
              </a:ln>
              <a:solidFill>
                <a:srgbClr val="000000"/>
              </a:solidFill>
              <a:effectLst/>
              <a:uFillTx/>
              <a:latin typeface="+mn-lt"/>
              <a:ea typeface="+mn-ea"/>
              <a:cs typeface="+mn-cs"/>
              <a:sym typeface="Calibri"/>
            </a:endParaRPr>
          </a:p>
        </p:txBody>
      </p:sp>
    </p:spTree>
  </p:cSld>
  <p:clrMapOvr>
    <a:masterClrMapping/>
  </p:clrMapOvr>
  <p:transition spd="med"/>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603618" y="234639"/>
            <a:ext cx="8039005" cy="369812"/>
          </a:xfrm>
        </p:spPr>
        <p:txBody>
          <a:bodyPr>
            <a:normAutofit fontScale="90000"/>
          </a:bodyPr>
          <a:lstStyle/>
          <a:p>
            <a:pPr lvl="0"/>
            <a:r>
              <a:rPr lang="en-IN" dirty="0" smtClean="0"/>
              <a:t>Adding Test to Test Cycle</a:t>
            </a:r>
            <a:endParaRPr lang="en-IN" dirty="0">
              <a:solidFill>
                <a:schemeClr val="tx1"/>
              </a:solidFill>
            </a:endParaRPr>
          </a:p>
        </p:txBody>
      </p:sp>
      <p:sp>
        <p:nvSpPr>
          <p:cNvPr id="5" name="Content Placeholder 4"/>
          <p:cNvSpPr>
            <a:spLocks noGrp="1"/>
          </p:cNvSpPr>
          <p:nvPr>
            <p:ph sz="half" idx="1"/>
          </p:nvPr>
        </p:nvSpPr>
        <p:spPr>
          <a:xfrm>
            <a:off x="528354" y="1296955"/>
            <a:ext cx="10622576" cy="5017785"/>
          </a:xfrm>
        </p:spPr>
        <p:txBody>
          <a:bodyPr/>
          <a:lstStyle/>
          <a:p>
            <a:r>
              <a:rPr lang="en-US" b="1" dirty="0" smtClean="0"/>
              <a:t>It means to assign the Test cases that you would like to execute for a particular cycle </a:t>
            </a:r>
            <a:r>
              <a:rPr lang="en-US" b="1" dirty="0" err="1" smtClean="0"/>
              <a:t>eg</a:t>
            </a:r>
            <a:r>
              <a:rPr lang="en-US" b="1" dirty="0" smtClean="0"/>
              <a:t>(Regression , </a:t>
            </a:r>
            <a:r>
              <a:rPr lang="en-US" b="1" dirty="0" err="1" smtClean="0"/>
              <a:t>adhoc</a:t>
            </a:r>
            <a:r>
              <a:rPr lang="en-US" b="1" dirty="0" smtClean="0"/>
              <a:t>, negative)</a:t>
            </a:r>
            <a:endParaRPr lang="en-US" dirty="0"/>
          </a:p>
          <a:p>
            <a:endParaRPr lang="en-US" dirty="0"/>
          </a:p>
          <a:p>
            <a:pPr marL="0" indent="0">
              <a:buNone/>
            </a:pPr>
            <a:endParaRPr lang="en-US" dirty="0"/>
          </a:p>
          <a:p>
            <a:pPr marL="0" indent="0">
              <a:buNone/>
            </a:pPr>
            <a:endParaRPr lang="en-US" dirty="0"/>
          </a:p>
          <a:p>
            <a:endParaRPr lang="en-US" dirty="0"/>
          </a:p>
          <a:p>
            <a:endParaRPr lang="en-IN" dirty="0"/>
          </a:p>
        </p:txBody>
      </p:sp>
      <p:pic>
        <p:nvPicPr>
          <p:cNvPr id="2" name="Picture 1"/>
          <p:cNvPicPr>
            <a:picLocks noChangeAspect="1"/>
          </p:cNvPicPr>
          <p:nvPr/>
        </p:nvPicPr>
        <p:blipFill>
          <a:blip r:embed="rId3"/>
          <a:stretch>
            <a:fillRect/>
          </a:stretch>
        </p:blipFill>
        <p:spPr>
          <a:xfrm>
            <a:off x="1046964" y="2083809"/>
            <a:ext cx="9246964" cy="4650259"/>
          </a:xfrm>
          <a:prstGeom prst="rect">
            <a:avLst/>
          </a:prstGeom>
        </p:spPr>
      </p:pic>
    </p:spTree>
  </p:cSld>
  <p:clrMapOvr>
    <a:masterClrMapping/>
  </p:clrMapOvr>
  <p:transition spd="med"/>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603618" y="234639"/>
            <a:ext cx="8039005" cy="369812"/>
          </a:xfrm>
        </p:spPr>
        <p:txBody>
          <a:bodyPr>
            <a:normAutofit fontScale="90000"/>
          </a:bodyPr>
          <a:lstStyle/>
          <a:p>
            <a:pPr lvl="0"/>
            <a:r>
              <a:rPr lang="en-IN" dirty="0" smtClean="0"/>
              <a:t>Assigning Test Execution</a:t>
            </a:r>
            <a:endParaRPr lang="en-IN" dirty="0">
              <a:solidFill>
                <a:schemeClr val="tx1"/>
              </a:solidFill>
            </a:endParaRPr>
          </a:p>
        </p:txBody>
      </p:sp>
      <p:sp>
        <p:nvSpPr>
          <p:cNvPr id="5" name="Content Placeholder 4"/>
          <p:cNvSpPr>
            <a:spLocks noGrp="1"/>
          </p:cNvSpPr>
          <p:nvPr>
            <p:ph sz="half" idx="1"/>
          </p:nvPr>
        </p:nvSpPr>
        <p:spPr/>
        <p:txBody>
          <a:bodyPr>
            <a:normAutofit/>
          </a:bodyPr>
          <a:lstStyle/>
          <a:p>
            <a:r>
              <a:rPr lang="en-US" sz="1800" dirty="0">
                <a:latin typeface="+mn-lt"/>
              </a:rPr>
              <a:t>On the '</a:t>
            </a:r>
            <a:r>
              <a:rPr lang="en-US" sz="1800" b="1" dirty="0">
                <a:latin typeface="+mn-lt"/>
              </a:rPr>
              <a:t>Cycle Summary</a:t>
            </a:r>
            <a:r>
              <a:rPr lang="en-US" sz="1800" dirty="0">
                <a:latin typeface="+mn-lt"/>
              </a:rPr>
              <a:t>' page, click on the '</a:t>
            </a:r>
            <a:r>
              <a:rPr lang="en-US" sz="1800" b="1" dirty="0">
                <a:latin typeface="+mn-lt"/>
              </a:rPr>
              <a:t>E</a:t>
            </a:r>
            <a:r>
              <a:rPr lang="en-US" sz="1800" dirty="0">
                <a:latin typeface="+mn-lt"/>
              </a:rPr>
              <a:t>' button for the individual test case that you want to assign</a:t>
            </a:r>
            <a:r>
              <a:rPr lang="en-US" sz="1800" dirty="0" smtClean="0">
                <a:latin typeface="+mn-lt"/>
              </a:rPr>
              <a:t>.</a:t>
            </a:r>
          </a:p>
          <a:p>
            <a:r>
              <a:rPr lang="en-US" sz="1800" dirty="0">
                <a:latin typeface="+mn-lt"/>
              </a:rPr>
              <a:t>This displays the test execution for that specific test and you can assign the test execution to a different user if need be. This can be done by using the '</a:t>
            </a:r>
            <a:r>
              <a:rPr lang="en-US" sz="1800" b="1" dirty="0">
                <a:latin typeface="+mn-lt"/>
              </a:rPr>
              <a:t>Assigned To</a:t>
            </a:r>
            <a:r>
              <a:rPr lang="en-US" sz="1800" dirty="0">
                <a:latin typeface="+mn-lt"/>
              </a:rPr>
              <a:t>' drop-down list and selecting a different </a:t>
            </a:r>
            <a:r>
              <a:rPr lang="en-US" sz="1800" dirty="0" err="1">
                <a:latin typeface="+mn-lt"/>
              </a:rPr>
              <a:t>user.After</a:t>
            </a:r>
            <a:r>
              <a:rPr lang="en-US" sz="1800" dirty="0">
                <a:latin typeface="+mn-lt"/>
              </a:rPr>
              <a:t> selecting a different user, it will </a:t>
            </a:r>
            <a:r>
              <a:rPr lang="en-US" sz="1800" dirty="0" err="1">
                <a:latin typeface="+mn-lt"/>
              </a:rPr>
              <a:t>autosave</a:t>
            </a:r>
            <a:r>
              <a:rPr lang="en-US" sz="1800" dirty="0">
                <a:latin typeface="+mn-lt"/>
              </a:rPr>
              <a:t> the test execution.</a:t>
            </a:r>
          </a:p>
          <a:p>
            <a:r>
              <a:rPr lang="en-IN" sz="1800" dirty="0">
                <a:latin typeface="+mn-lt"/>
              </a:rPr>
              <a:t/>
            </a:r>
            <a:br>
              <a:rPr lang="en-IN" sz="1800" dirty="0">
                <a:latin typeface="+mn-lt"/>
              </a:rPr>
            </a:br>
            <a:endParaRPr lang="en-IN" sz="1800" dirty="0">
              <a:latin typeface="+mn-lt"/>
            </a:endParaRPr>
          </a:p>
        </p:txBody>
      </p:sp>
      <p:pic>
        <p:nvPicPr>
          <p:cNvPr id="2" name="Picture 1"/>
          <p:cNvPicPr>
            <a:picLocks noChangeAspect="1"/>
          </p:cNvPicPr>
          <p:nvPr/>
        </p:nvPicPr>
        <p:blipFill>
          <a:blip r:embed="rId3"/>
          <a:stretch>
            <a:fillRect/>
          </a:stretch>
        </p:blipFill>
        <p:spPr>
          <a:xfrm>
            <a:off x="946872" y="3062960"/>
            <a:ext cx="6132801" cy="3407112"/>
          </a:xfrm>
          <a:prstGeom prst="rect">
            <a:avLst/>
          </a:prstGeom>
        </p:spPr>
      </p:pic>
    </p:spTree>
  </p:cSld>
  <p:clrMapOvr>
    <a:masterClrMapping/>
  </p:clrMapOvr>
  <p:transition spd="med"/>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603618" y="234639"/>
            <a:ext cx="8039005" cy="369812"/>
          </a:xfrm>
        </p:spPr>
        <p:txBody>
          <a:bodyPr>
            <a:normAutofit fontScale="90000"/>
          </a:bodyPr>
          <a:lstStyle/>
          <a:p>
            <a:pPr lvl="0"/>
            <a:r>
              <a:rPr lang="en-IN" dirty="0" smtClean="0"/>
              <a:t>Executing Test Case</a:t>
            </a:r>
            <a:endParaRPr lang="en-IN" dirty="0">
              <a:solidFill>
                <a:schemeClr val="tx1"/>
              </a:solidFill>
            </a:endParaRPr>
          </a:p>
        </p:txBody>
      </p:sp>
      <p:sp>
        <p:nvSpPr>
          <p:cNvPr id="5" name="Content Placeholder 4"/>
          <p:cNvSpPr>
            <a:spLocks noGrp="1"/>
          </p:cNvSpPr>
          <p:nvPr>
            <p:ph sz="half" idx="1"/>
          </p:nvPr>
        </p:nvSpPr>
        <p:spPr>
          <a:xfrm>
            <a:off x="528354" y="1138335"/>
            <a:ext cx="10622576" cy="5176405"/>
          </a:xfrm>
        </p:spPr>
        <p:txBody>
          <a:bodyPr>
            <a:normAutofit/>
          </a:bodyPr>
          <a:lstStyle/>
          <a:p>
            <a:pPr>
              <a:buNone/>
            </a:pPr>
            <a:endParaRPr lang="en-US" sz="1800" dirty="0">
              <a:latin typeface="+mn-lt"/>
            </a:endParaRPr>
          </a:p>
          <a:p>
            <a:r>
              <a:rPr lang="en-US" sz="1800" dirty="0">
                <a:latin typeface="+mn-lt"/>
              </a:rPr>
              <a:t>Users can quick execute test cases by using the drop-down list in the '</a:t>
            </a:r>
            <a:r>
              <a:rPr lang="en-US" sz="1800" b="1" dirty="0">
                <a:latin typeface="+mn-lt"/>
              </a:rPr>
              <a:t>Status</a:t>
            </a:r>
            <a:r>
              <a:rPr lang="en-US" sz="1800" dirty="0">
                <a:latin typeface="+mn-lt"/>
              </a:rPr>
              <a:t>' column of the test execution table within the testing cycle. Users can also execute their test cases in further detail by clicking on the '</a:t>
            </a:r>
            <a:r>
              <a:rPr lang="en-US" sz="1800" b="1" dirty="0">
                <a:latin typeface="+mn-lt"/>
              </a:rPr>
              <a:t>E</a:t>
            </a:r>
            <a:r>
              <a:rPr lang="en-US" sz="1800" dirty="0">
                <a:latin typeface="+mn-lt"/>
              </a:rPr>
              <a:t>' button for the individual test that needs to be executed</a:t>
            </a:r>
            <a:r>
              <a:rPr lang="en-US" sz="1800" dirty="0" smtClean="0">
                <a:latin typeface="+mn-lt"/>
              </a:rPr>
              <a:t>.</a:t>
            </a:r>
          </a:p>
          <a:p>
            <a:r>
              <a:rPr lang="en-US" sz="1800" dirty="0">
                <a:latin typeface="+mn-lt"/>
              </a:rPr>
              <a:t>After clicking on the '</a:t>
            </a:r>
            <a:r>
              <a:rPr lang="en-US" sz="1800" b="1" dirty="0">
                <a:latin typeface="+mn-lt"/>
              </a:rPr>
              <a:t>E</a:t>
            </a:r>
            <a:r>
              <a:rPr lang="en-US" sz="1800" dirty="0">
                <a:latin typeface="+mn-lt"/>
              </a:rPr>
              <a:t>' button, users can execute the entire test case by simply changing and updating the execution status of the test case. This can be done by using the '</a:t>
            </a:r>
            <a:r>
              <a:rPr lang="en-US" sz="1800" b="1" dirty="0">
                <a:latin typeface="+mn-lt"/>
              </a:rPr>
              <a:t>Execution Status</a:t>
            </a:r>
            <a:r>
              <a:rPr lang="en-US" sz="1800" dirty="0">
                <a:latin typeface="+mn-lt"/>
              </a:rPr>
              <a:t>' drop-down list and selecting one the statuses listed. This will execute the test case</a:t>
            </a:r>
            <a:r>
              <a:rPr lang="en-US" sz="1800" dirty="0" smtClean="0">
                <a:latin typeface="+mn-lt"/>
              </a:rPr>
              <a:t>.</a:t>
            </a:r>
          </a:p>
          <a:p>
            <a:r>
              <a:rPr lang="en-US" sz="1800" dirty="0">
                <a:latin typeface="+mn-lt"/>
              </a:rPr>
              <a:t>Users are also able to execute not only the entire test case but the individual test steps as well. Simply scroll down until you see the Test Details sections and then click on the drop-down list in the '</a:t>
            </a:r>
            <a:r>
              <a:rPr lang="en-US" sz="1800" b="1" dirty="0">
                <a:latin typeface="+mn-lt"/>
              </a:rPr>
              <a:t>Status</a:t>
            </a:r>
            <a:r>
              <a:rPr lang="en-US" sz="1800" dirty="0">
                <a:latin typeface="+mn-lt"/>
              </a:rPr>
              <a:t>' column for the individual test </a:t>
            </a:r>
            <a:r>
              <a:rPr lang="en-US" sz="1800" dirty="0" err="1">
                <a:latin typeface="+mn-lt"/>
              </a:rPr>
              <a:t>step.Select</a:t>
            </a:r>
            <a:r>
              <a:rPr lang="en-US" sz="1800" dirty="0">
                <a:latin typeface="+mn-lt"/>
              </a:rPr>
              <a:t> and update the status of the test step and this will execute the individual test step.</a:t>
            </a:r>
          </a:p>
          <a:p>
            <a:endParaRPr lang="en-US" sz="1800" dirty="0">
              <a:latin typeface="+mn-lt"/>
            </a:endParaRPr>
          </a:p>
          <a:p>
            <a:pPr>
              <a:buNone/>
            </a:pPr>
            <a:endParaRPr lang="en-IN" sz="1800" dirty="0">
              <a:latin typeface="+mn-lt"/>
            </a:endParaRPr>
          </a:p>
        </p:txBody>
      </p:sp>
      <p:pic>
        <p:nvPicPr>
          <p:cNvPr id="2" name="Picture 1"/>
          <p:cNvPicPr>
            <a:picLocks noChangeAspect="1"/>
          </p:cNvPicPr>
          <p:nvPr/>
        </p:nvPicPr>
        <p:blipFill>
          <a:blip r:embed="rId3"/>
          <a:stretch>
            <a:fillRect/>
          </a:stretch>
        </p:blipFill>
        <p:spPr>
          <a:xfrm>
            <a:off x="603618" y="4109172"/>
            <a:ext cx="6905625" cy="2352675"/>
          </a:xfrm>
          <a:prstGeom prst="rect">
            <a:avLst/>
          </a:prstGeom>
        </p:spPr>
      </p:pic>
      <p:pic>
        <p:nvPicPr>
          <p:cNvPr id="4" name="Picture 3"/>
          <p:cNvPicPr>
            <a:picLocks noChangeAspect="1"/>
          </p:cNvPicPr>
          <p:nvPr/>
        </p:nvPicPr>
        <p:blipFill>
          <a:blip r:embed="rId4"/>
          <a:stretch>
            <a:fillRect/>
          </a:stretch>
        </p:blipFill>
        <p:spPr>
          <a:xfrm>
            <a:off x="7584507" y="3945514"/>
            <a:ext cx="4505325" cy="3400425"/>
          </a:xfrm>
          <a:prstGeom prst="rect">
            <a:avLst/>
          </a:prstGeom>
        </p:spPr>
      </p:pic>
    </p:spTree>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
          </p:nvPr>
        </p:nvSpPr>
        <p:spPr>
          <a:xfrm>
            <a:off x="547015" y="1138334"/>
            <a:ext cx="11349516" cy="5719665"/>
          </a:xfrm>
        </p:spPr>
        <p:txBody>
          <a:bodyPr>
            <a:normAutofit/>
          </a:bodyPr>
          <a:lstStyle/>
          <a:p>
            <a:r>
              <a:rPr lang="en-US" dirty="0"/>
              <a:t>To view your test progress of all your testing activities, simply click on '</a:t>
            </a:r>
            <a:r>
              <a:rPr lang="en-US" b="1" dirty="0"/>
              <a:t>Dashboards</a:t>
            </a:r>
            <a:r>
              <a:rPr lang="en-US" dirty="0"/>
              <a:t>' at the left of the top </a:t>
            </a:r>
            <a:r>
              <a:rPr lang="en-US" dirty="0" smtClean="0"/>
              <a:t>menu </a:t>
            </a:r>
            <a:r>
              <a:rPr lang="en-US" dirty="0"/>
              <a:t>navigation. Then click on the existing dashboard to open </a:t>
            </a:r>
            <a:r>
              <a:rPr lang="en-US" dirty="0" smtClean="0"/>
              <a:t>up </a:t>
            </a:r>
            <a:r>
              <a:rPr lang="en-US" dirty="0"/>
              <a:t>the dashboard</a:t>
            </a:r>
            <a:r>
              <a:rPr lang="en-US" dirty="0" smtClean="0"/>
              <a:t>.</a:t>
            </a:r>
          </a:p>
          <a:p>
            <a:endParaRPr lang="en-US" dirty="0"/>
          </a:p>
          <a:p>
            <a:endParaRPr lang="en-IN" dirty="0"/>
          </a:p>
        </p:txBody>
      </p:sp>
      <p:sp>
        <p:nvSpPr>
          <p:cNvPr id="3" name="Title 2"/>
          <p:cNvSpPr>
            <a:spLocks noGrp="1"/>
          </p:cNvSpPr>
          <p:nvPr>
            <p:ph type="title"/>
          </p:nvPr>
        </p:nvSpPr>
        <p:spPr>
          <a:xfrm>
            <a:off x="340290" y="173448"/>
            <a:ext cx="8039005" cy="369812"/>
          </a:xfrm>
        </p:spPr>
        <p:txBody>
          <a:bodyPr>
            <a:normAutofit fontScale="90000"/>
          </a:bodyPr>
          <a:lstStyle/>
          <a:p>
            <a:r>
              <a:rPr lang="en-IN" dirty="0" smtClean="0"/>
              <a:t>View Progress</a:t>
            </a:r>
            <a:endParaRPr lang="en-IN" dirty="0"/>
          </a:p>
        </p:txBody>
      </p:sp>
      <p:pic>
        <p:nvPicPr>
          <p:cNvPr id="5" name="Picture 4"/>
          <p:cNvPicPr>
            <a:picLocks noChangeAspect="1"/>
          </p:cNvPicPr>
          <p:nvPr/>
        </p:nvPicPr>
        <p:blipFill>
          <a:blip r:embed="rId2"/>
          <a:stretch>
            <a:fillRect/>
          </a:stretch>
        </p:blipFill>
        <p:spPr>
          <a:xfrm>
            <a:off x="822613" y="2285134"/>
            <a:ext cx="7277100" cy="3867150"/>
          </a:xfrm>
          <a:prstGeom prst="rect">
            <a:avLst/>
          </a:prstGeom>
        </p:spPr>
      </p:pic>
    </p:spTree>
  </p:cSld>
  <p:clrMapOvr>
    <a:masterClrMapping/>
  </p:clrMapOvr>
  <p:transition spd="med"/>
</p:sld>
</file>

<file path=ppt/theme/theme1.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Helvetica"/>
        <a:ea typeface="Helvetica"/>
        <a:cs typeface="Helvetica"/>
      </a:majorFont>
      <a:minorFont>
        <a:latin typeface="Calibri"/>
        <a:ea typeface="Calibri"/>
        <a:cs typeface="Calibr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2700" cap="flat">
          <a:solidFill>
            <a:schemeClr val="accent1"/>
          </a:solidFill>
          <a:prstDash val="solid"/>
          <a:miter lim="800000"/>
        </a:ln>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Helvetica"/>
        <a:ea typeface="Helvetica"/>
        <a:cs typeface="Helvetica"/>
      </a:majorFont>
      <a:minorFont>
        <a:latin typeface="Calibri"/>
        <a:ea typeface="Calibri"/>
        <a:cs typeface="Calibr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2700" cap="flat">
          <a:solidFill>
            <a:schemeClr val="accent1"/>
          </a:solidFill>
          <a:prstDash val="solid"/>
          <a:miter lim="800000"/>
        </a:ln>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722</Words>
  <Application>WPS Presentation</Application>
  <PresentationFormat>Custom</PresentationFormat>
  <Paragraphs>97</Paragraphs>
  <Slides>11</Slides>
  <Notes>10</Notes>
  <HiddenSlides>0</HiddenSlides>
  <MMClips>0</MMClips>
  <ScaleCrop>false</ScaleCrop>
  <HeadingPairs>
    <vt:vector size="6" baseType="variant">
      <vt:variant>
        <vt:lpstr>Theme</vt:lpstr>
      </vt:variant>
      <vt:variant>
        <vt:i4>1</vt:i4>
      </vt:variant>
      <vt:variant>
        <vt:lpstr>Slide Titles</vt:lpstr>
      </vt:variant>
      <vt:variant>
        <vt:i4>11</vt:i4>
      </vt:variant>
      <vt:variant>
        <vt:lpstr>Custom Shows</vt:lpstr>
      </vt:variant>
      <vt:variant>
        <vt:i4>1</vt:i4>
      </vt:variant>
    </vt:vector>
  </HeadingPairs>
  <TitlesOfParts>
    <vt:vector size="13" baseType="lpstr">
      <vt:lpstr>Office Theme</vt:lpstr>
      <vt:lpstr>Table of Contents – Day 1</vt:lpstr>
      <vt:lpstr>About Zephyr</vt:lpstr>
      <vt:lpstr>Features of Zephyr for JIRA</vt:lpstr>
      <vt:lpstr>Adding Zephyr Plugin to Jira Cloud</vt:lpstr>
      <vt:lpstr>Create a Test</vt:lpstr>
      <vt:lpstr>Modify And View a Test Case</vt:lpstr>
      <vt:lpstr>Create a Test Cycle</vt:lpstr>
      <vt:lpstr>Adding Test to Test Cycle</vt:lpstr>
      <vt:lpstr>Assigning Test Execution</vt:lpstr>
      <vt:lpstr>Executing Test Case</vt:lpstr>
      <vt:lpstr>View Progress</vt:lpstr>
      <vt:lpstr>Custom Show 1</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Testing Concepts, TDD, BDD &amp; Use case</dc:title>
  <dc:creator>Rekha Basurangan [MaGE]</dc:creator>
  <cp:lastModifiedBy>SYS</cp:lastModifiedBy>
  <cp:revision>383</cp:revision>
  <dcterms:created xsi:type="dcterms:W3CDTF">2022-02-10T08:07:13Z</dcterms:created>
  <dcterms:modified xsi:type="dcterms:W3CDTF">2022-02-22T17:15:02Z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1033-3.1.6.6275</vt:lpwstr>
  </property>
</Properties>
</file>