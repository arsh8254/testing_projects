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399" r:id="rId2"/>
    <p:sldId id="400" r:id="rId3"/>
    <p:sldId id="403" r:id="rId4"/>
    <p:sldId id="405" r:id="rId5"/>
    <p:sldId id="406" r:id="rId6"/>
    <p:sldId id="408" r:id="rId7"/>
    <p:sldId id="407" r:id="rId8"/>
    <p:sldId id="409" r:id="rId9"/>
    <p:sldId id="404" r:id="rId10"/>
    <p:sldId id="411" r:id="rId11"/>
    <p:sldId id="412" r:id="rId12"/>
  </p:sldIdLst>
  <p:sldSz cx="12192000" cy="6858000"/>
  <p:notesSz cx="6858000" cy="9144000"/>
  <p:custShowLst>
    <p:custShow name="Custom Show 1" id="0">
      <p:sldLst/>
    </p:custShow>
  </p:custShow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00" autoAdjust="0"/>
    <p:restoredTop sz="97509" autoAdjust="0"/>
  </p:normalViewPr>
  <p:slideViewPr>
    <p:cSldViewPr snapToGrid="0">
      <p:cViewPr varScale="1">
        <p:scale>
          <a:sx n="67" d="100"/>
          <a:sy n="67" d="100"/>
        </p:scale>
        <p:origin x="-640" y="-7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xfrm>
            <a:off x="1143000" y="685800"/>
            <a:ext cx="4572000" cy="3429000"/>
          </a:xfrm>
          <a:prstGeom prst="rect">
            <a:avLst/>
          </a:prstGeom>
        </p:spPr>
        <p:txBody>
          <a:bodyPr/>
          <a:lstStyle/>
          <a:p>
            <a:endParaRPr/>
          </a:p>
        </p:txBody>
      </p:sp>
      <p:sp>
        <p:nvSpPr>
          <p:cNvPr id="70" name="Shape 7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1</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2</a:t>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3</a:t>
            </a:fld>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4</a:t>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5</a:t>
            </a:fld>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6</a:t>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7</a:t>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8</a:t>
            </a:fld>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9</a:t>
            </a:fld>
            <a:endParaRPr lang="en-I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10</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8354" y="1742499"/>
            <a:ext cx="10622576" cy="4572241"/>
          </a:xfrm>
          <a:prstGeom prst="rect">
            <a:avLst/>
          </a:prstGeom>
        </p:spPr>
        <p:txBody>
          <a:bodyPr/>
          <a:lstStyle>
            <a:lvl1pPr marL="457200" indent="-457200">
              <a:spcBef>
                <a:spcPts val="500"/>
              </a:spcBef>
              <a:buFont typeface="Wingdings" panose="05000000000000000000" pitchFamily="2" charset="2"/>
              <a:buChar char="Ø"/>
              <a:defRPr sz="2400">
                <a:latin typeface="Helvetica LT Std Cond Light" panose="020B0406020202030204" pitchFamily="34" charset="0"/>
              </a:defRPr>
            </a:lvl1pPr>
            <a:lvl2pPr>
              <a:defRPr sz="2200">
                <a:latin typeface="Helvetica LT Std Cond Light" panose="020B0406020202030204" pitchFamily="34" charset="0"/>
              </a:defRPr>
            </a:lvl2pPr>
            <a:lvl3pPr marL="1143000" indent="-228600">
              <a:buFont typeface="Wingdings" panose="05000000000000000000" pitchFamily="2" charset="2"/>
              <a:buChar char="§"/>
              <a:defRPr sz="2000">
                <a:latin typeface="Helvetica LT Std Cond Light" panose="020B0406020202030204" pitchFamily="34" charset="0"/>
              </a:defRPr>
            </a:lvl3pPr>
            <a:lvl4pPr marL="1600200" indent="-228600">
              <a:buFont typeface="Wingdings" panose="05000000000000000000" pitchFamily="2" charset="2"/>
              <a:buChar char="§"/>
              <a:defRPr sz="1800">
                <a:latin typeface="Helvetica LT Std Cond Light" panose="020B0406020202030204" pitchFamily="34" charset="0"/>
              </a:defRPr>
            </a:lvl4pPr>
            <a:lvl5pPr marL="2057400" indent="-228600">
              <a:buFont typeface="Wingdings" panose="05000000000000000000" pitchFamily="2" charset="2"/>
              <a:buChar char="§"/>
              <a:defRPr sz="1600">
                <a:latin typeface="Helvetica LT Std Cond Light" panose="020B0406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hasCustomPrompt="1"/>
          </p:nvPr>
        </p:nvSpPr>
        <p:spPr>
          <a:xfrm>
            <a:off x="349621" y="921641"/>
            <a:ext cx="8039005" cy="369812"/>
          </a:xfrm>
          <a:prstGeom prst="rect">
            <a:avLst/>
          </a:prstGeom>
        </p:spPr>
        <p:txBody>
          <a:bodyPr/>
          <a:lstStyle>
            <a:lvl1pPr>
              <a:defRPr sz="2400" b="1">
                <a:solidFill>
                  <a:srgbClr val="02918B"/>
                </a:solidFill>
                <a:latin typeface="Helvetica LT Std Cond" panose="020B0506020202030204" pitchFamily="34" charset="0"/>
              </a:defRPr>
            </a:lvl1pPr>
          </a:lstStyle>
          <a:p>
            <a:r>
              <a:rPr lang="en-US" dirty="0"/>
              <a:t>SLIDE TITLE</a:t>
            </a:r>
            <a:endParaRPr lang="en-IN" dirty="0"/>
          </a:p>
        </p:txBody>
      </p:sp>
      <p:sp>
        <p:nvSpPr>
          <p:cNvPr id="6" name="TextBox 5"/>
          <p:cNvSpPr txBox="1"/>
          <p:nvPr userDrawn="1"/>
        </p:nvSpPr>
        <p:spPr>
          <a:xfrm>
            <a:off x="5794786" y="6454591"/>
            <a:ext cx="602429" cy="276999"/>
          </a:xfrm>
          <a:prstGeom prst="rect">
            <a:avLst/>
          </a:prstGeom>
          <a:noFill/>
        </p:spPr>
        <p:txBody>
          <a:bodyPr wrap="square" rtlCol="0">
            <a:spAutoFit/>
          </a:bodyPr>
          <a:lstStyle/>
          <a:p>
            <a:pPr algn="ctr"/>
            <a:fld id="{80185F77-B28D-4181-BD8D-423D01B3D466}" type="slidenum">
              <a:rPr lang="en-IN" sz="1200" smtClean="0">
                <a:solidFill>
                  <a:schemeClr val="bg1">
                    <a:lumMod val="50000"/>
                  </a:schemeClr>
                </a:solidFill>
              </a:rPr>
              <a:pPr algn="ctr"/>
              <a:t>‹#›</a:t>
            </a:fld>
            <a:endParaRPr lang="en-IN" sz="1200" dirty="0">
              <a:solidFill>
                <a:schemeClr val="bg1">
                  <a:lumMod val="50000"/>
                </a:schemeClr>
              </a:solidFill>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73050" y="200025"/>
            <a:ext cx="10515600" cy="617753"/>
          </a:xfrm>
          <a:prstGeom prst="rect">
            <a:avLst/>
          </a:prstGeom>
          <a:ln w="12700">
            <a:miter lim="400000"/>
          </a:ln>
        </p:spPr>
        <p:txBody>
          <a:bodyPr lIns="45719" rIns="45719" anchor="ctr">
            <a:normAutofit/>
          </a:bodyPr>
          <a:lstStyle/>
          <a:p>
            <a:r>
              <a:t>Title Text</a:t>
            </a:r>
          </a:p>
        </p:txBody>
      </p:sp>
      <p:sp>
        <p:nvSpPr>
          <p:cNvPr id="3" name="Body Level One…"/>
          <p:cNvSpPr txBox="1">
            <a:spLocks noGrp="1"/>
          </p:cNvSpPr>
          <p:nvPr>
            <p:ph type="body" idx="1"/>
          </p:nvPr>
        </p:nvSpPr>
        <p:spPr>
          <a:xfrm>
            <a:off x="298524" y="1717993"/>
            <a:ext cx="10515601" cy="4351339"/>
          </a:xfrm>
          <a:prstGeom prst="rect">
            <a:avLst/>
          </a:prstGeom>
          <a:ln w="12700">
            <a:miter lim="400000"/>
          </a:ln>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Rectangle 11"/>
          <p:cNvSpPr/>
          <p:nvPr/>
        </p:nvSpPr>
        <p:spPr>
          <a:xfrm>
            <a:off x="3984585" y="2174563"/>
            <a:ext cx="3251199" cy="13335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9237" y="21600"/>
                </a:lnTo>
                <a:lnTo>
                  <a:pt x="0" y="20983"/>
                </a:lnTo>
                <a:lnTo>
                  <a:pt x="0" y="0"/>
                </a:lnTo>
                <a:close/>
              </a:path>
            </a:pathLst>
          </a:custGeom>
          <a:solidFill>
            <a:srgbClr val="FFFFFF"/>
          </a:solidFill>
          <a:ln w="12700">
            <a:miter lim="400000"/>
          </a:ln>
        </p:spPr>
        <p:txBody>
          <a:bodyPr lIns="45719" rIns="45719" anchor="ctr"/>
          <a:lstStyle/>
          <a:p>
            <a:pPr algn="ctr">
              <a:defRPr>
                <a:solidFill>
                  <a:srgbClr val="FFFFFF"/>
                </a:solidFill>
              </a:defRPr>
            </a:pPr>
            <a:endParaRPr/>
          </a:p>
        </p:txBody>
      </p:sp>
      <p:sp>
        <p:nvSpPr>
          <p:cNvPr id="5" name="Rectangle 4"/>
          <p:cNvSpPr/>
          <p:nvPr/>
        </p:nvSpPr>
        <p:spPr>
          <a:xfrm>
            <a:off x="0" y="0"/>
            <a:ext cx="12179300" cy="45719"/>
          </a:xfrm>
          <a:prstGeom prst="rect">
            <a:avLst/>
          </a:pr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6" name="Rectangle 6"/>
          <p:cNvSpPr/>
          <p:nvPr/>
        </p:nvSpPr>
        <p:spPr>
          <a:xfrm rot="10800000" flipH="1">
            <a:off x="9105900" y="0"/>
            <a:ext cx="3073400" cy="825500"/>
          </a:xfrm>
          <a:custGeom>
            <a:avLst/>
            <a:gdLst/>
            <a:ahLst/>
            <a:cxnLst>
              <a:cxn ang="0">
                <a:pos x="wd2" y="hd2"/>
              </a:cxn>
              <a:cxn ang="5400000">
                <a:pos x="wd2" y="hd2"/>
              </a:cxn>
              <a:cxn ang="10800000">
                <a:pos x="wd2" y="hd2"/>
              </a:cxn>
              <a:cxn ang="16200000">
                <a:pos x="wd2" y="hd2"/>
              </a:cxn>
            </a:cxnLst>
            <a:rect l="0" t="0" r="r" b="b"/>
            <a:pathLst>
              <a:path w="21600" h="21600" extrusionOk="0">
                <a:moveTo>
                  <a:pt x="3899" y="332"/>
                </a:moveTo>
                <a:lnTo>
                  <a:pt x="21600" y="0"/>
                </a:lnTo>
                <a:lnTo>
                  <a:pt x="21600" y="21268"/>
                </a:lnTo>
                <a:lnTo>
                  <a:pt x="0" y="21600"/>
                </a:lnTo>
                <a:lnTo>
                  <a:pt x="3899" y="332"/>
                </a:lnTo>
                <a:close/>
              </a:path>
            </a:pathLst>
          </a:cu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8"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51" r:id="rId1"/>
  </p:sldLayoutIdLst>
  <p:transition spd="med"/>
  <p:txStyles>
    <p:titleStyle>
      <a:lvl1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1pPr>
      <a:lvl2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2pPr>
      <a:lvl3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3pPr>
      <a:lvl4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4pPr>
      <a:lvl5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5pPr>
      <a:lvl6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6pPr>
      <a:lvl7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7pPr>
      <a:lvl8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8pPr>
      <a:lvl9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9pPr>
    </p:titleStyle>
    <p:bodyStyle>
      <a:lvl1pPr marL="228600" marR="0" indent="-228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2pPr>
      <a:lvl3pPr marL="1234440" marR="0" indent="-32004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1193" y="1826424"/>
            <a:ext cx="10703527" cy="3903815"/>
          </a:xfrm>
        </p:spPr>
        <p:txBody>
          <a:bodyPr>
            <a:noAutofit/>
          </a:bodyPr>
          <a:lstStyle/>
          <a:p>
            <a:r>
              <a:rPr lang="en-IN" dirty="0"/>
              <a:t>JIRA Key Concepts</a:t>
            </a:r>
          </a:p>
          <a:p>
            <a:r>
              <a:rPr lang="en-IN" dirty="0"/>
              <a:t>Getting started with JIRA</a:t>
            </a:r>
          </a:p>
          <a:p>
            <a:r>
              <a:rPr lang="en-IN" dirty="0"/>
              <a:t>How to Create Sprints</a:t>
            </a:r>
          </a:p>
          <a:p>
            <a:r>
              <a:rPr lang="en-IN" dirty="0"/>
              <a:t>How to Create Epic</a:t>
            </a:r>
          </a:p>
          <a:p>
            <a:r>
              <a:rPr lang="en-IN" dirty="0"/>
              <a:t>How to Create Stories, Task, Sub Tasks and Bugs</a:t>
            </a:r>
          </a:p>
          <a:p>
            <a:r>
              <a:rPr lang="en-IN" dirty="0"/>
              <a:t>How To link Issues with User Stories</a:t>
            </a:r>
          </a:p>
          <a:p>
            <a:r>
              <a:rPr lang="en-IN" dirty="0"/>
              <a:t>What is Story Points</a:t>
            </a:r>
          </a:p>
          <a:p>
            <a:r>
              <a:rPr lang="en-IN" dirty="0"/>
              <a:t>Introduction to Workflows</a:t>
            </a:r>
          </a:p>
        </p:txBody>
      </p:sp>
      <p:sp>
        <p:nvSpPr>
          <p:cNvPr id="3" name="Title 2"/>
          <p:cNvSpPr>
            <a:spLocks noGrp="1"/>
          </p:cNvSpPr>
          <p:nvPr>
            <p:ph type="title"/>
          </p:nvPr>
        </p:nvSpPr>
        <p:spPr>
          <a:xfrm>
            <a:off x="603618" y="234639"/>
            <a:ext cx="8039005" cy="369812"/>
          </a:xfrm>
        </p:spPr>
        <p:txBody>
          <a:bodyPr>
            <a:normAutofit fontScale="90000"/>
          </a:bodyPr>
          <a:lstStyle/>
          <a:p>
            <a:pPr lvl="0"/>
            <a:r>
              <a:rPr lang="en-US" dirty="0"/>
              <a:t>Table of Contents – Day 1</a:t>
            </a:r>
            <a:endParaRPr lang="en-IN" dirty="0">
              <a:solidFill>
                <a:schemeClr val="tx1"/>
              </a:solidFill>
            </a:endParaRPr>
          </a:p>
        </p:txBody>
      </p:sp>
      <p:sp>
        <p:nvSpPr>
          <p:cNvPr id="5" name="Rectangle 1"/>
          <p:cNvSpPr>
            <a:spLocks noChangeArrowheads="1"/>
          </p:cNvSpPr>
          <p:nvPr/>
        </p:nvSpPr>
        <p:spPr bwMode="auto">
          <a:xfrm>
            <a:off x="4413250" y="2808288"/>
            <a:ext cx="12192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t/>
            </a:r>
            <a:b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br>
            <a:endPar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1193" y="1826424"/>
            <a:ext cx="10703527" cy="3903815"/>
          </a:xfrm>
        </p:spPr>
        <p:txBody>
          <a:bodyPr>
            <a:noAutofit/>
          </a:bodyPr>
          <a:lstStyle/>
          <a:p>
            <a:r>
              <a:rPr lang="en-IN" dirty="0"/>
              <a:t>JIRA is a tool developed by Australian Company </a:t>
            </a:r>
            <a:r>
              <a:rPr lang="en-IN" dirty="0" err="1"/>
              <a:t>Atlassian</a:t>
            </a:r>
            <a:r>
              <a:rPr lang="en-IN" dirty="0"/>
              <a:t>. It is used for bug tracking, issue tracking, and project management.</a:t>
            </a:r>
          </a:p>
          <a:p>
            <a:r>
              <a:rPr lang="en-IN" dirty="0"/>
              <a:t>Basically, it is used for project management, service helpdesk, as Incident tracker etc..</a:t>
            </a:r>
          </a:p>
        </p:txBody>
      </p:sp>
      <p:sp>
        <p:nvSpPr>
          <p:cNvPr id="3" name="Title 2"/>
          <p:cNvSpPr>
            <a:spLocks noGrp="1"/>
          </p:cNvSpPr>
          <p:nvPr>
            <p:ph type="title"/>
          </p:nvPr>
        </p:nvSpPr>
        <p:spPr>
          <a:xfrm>
            <a:off x="603618" y="234639"/>
            <a:ext cx="8039005" cy="369812"/>
          </a:xfrm>
        </p:spPr>
        <p:txBody>
          <a:bodyPr>
            <a:normAutofit fontScale="90000"/>
          </a:bodyPr>
          <a:lstStyle/>
          <a:p>
            <a:pPr lvl="0"/>
            <a:r>
              <a:rPr lang="en-IN" dirty="0"/>
              <a:t>JIRA Key Concepts</a:t>
            </a:r>
            <a:endParaRPr lang="en-IN" dirty="0">
              <a:solidFill>
                <a:schemeClr val="tx1"/>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Introduction to Issues</a:t>
            </a:r>
            <a:endParaRPr lang="en-IN" dirty="0">
              <a:solidFill>
                <a:schemeClr val="tx1"/>
              </a:solidFill>
            </a:endParaRPr>
          </a:p>
        </p:txBody>
      </p:sp>
      <p:sp>
        <p:nvSpPr>
          <p:cNvPr id="5" name="Content Placeholder 4"/>
          <p:cNvSpPr>
            <a:spLocks noGrp="1"/>
          </p:cNvSpPr>
          <p:nvPr>
            <p:ph sz="half" idx="1"/>
          </p:nvPr>
        </p:nvSpPr>
        <p:spPr/>
        <p:txBody>
          <a:bodyPr/>
          <a:lstStyle/>
          <a:p>
            <a:r>
              <a:rPr lang="en-IN" dirty="0"/>
              <a:t>In </a:t>
            </a:r>
            <a:r>
              <a:rPr lang="en-IN" dirty="0" err="1"/>
              <a:t>Jira</a:t>
            </a:r>
            <a:r>
              <a:rPr lang="en-IN" dirty="0"/>
              <a:t>, Issue Type displays all types of items that can be created and tracked via JIRA. JIRA Issues are classified under various forms like Story, Task, sub-task, bug, etc. </a:t>
            </a:r>
          </a:p>
          <a:p>
            <a:r>
              <a:rPr lang="en-IN" dirty="0"/>
              <a:t>Lets see in detail as how to create issues in </a:t>
            </a:r>
            <a:r>
              <a:rPr lang="en-IN" dirty="0" err="1"/>
              <a:t>jira</a:t>
            </a:r>
            <a:endParaRPr lang="en-IN"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Sprint</a:t>
            </a:r>
            <a:endParaRPr lang="en-IN" dirty="0">
              <a:solidFill>
                <a:schemeClr val="tx1"/>
              </a:solidFill>
            </a:endParaRPr>
          </a:p>
        </p:txBody>
      </p:sp>
      <p:sp>
        <p:nvSpPr>
          <p:cNvPr id="5" name="Content Placeholder 4"/>
          <p:cNvSpPr>
            <a:spLocks noGrp="1"/>
          </p:cNvSpPr>
          <p:nvPr>
            <p:ph sz="half" idx="1"/>
          </p:nvPr>
        </p:nvSpPr>
        <p:spPr/>
        <p:txBody>
          <a:bodyPr/>
          <a:lstStyle/>
          <a:p>
            <a:r>
              <a:rPr lang="en-US" dirty="0"/>
              <a:t>A </a:t>
            </a:r>
            <a:r>
              <a:rPr lang="en-US" i="1" dirty="0"/>
              <a:t>sprint</a:t>
            </a:r>
            <a:r>
              <a:rPr lang="en-US" dirty="0"/>
              <a:t> — also known as an </a:t>
            </a:r>
            <a:r>
              <a:rPr lang="en-US" i="1" dirty="0"/>
              <a:t>iteration</a:t>
            </a:r>
            <a:r>
              <a:rPr lang="en-US" dirty="0"/>
              <a:t> — is a short period in which the team implements and delivers a discrete and potentially shippable application increment, e.g. a working milestone version. </a:t>
            </a:r>
          </a:p>
          <a:p>
            <a:endParaRPr lang="en-US" dirty="0"/>
          </a:p>
          <a:p>
            <a:r>
              <a:rPr lang="en-US" dirty="0"/>
              <a:t>If you haven't run sprints before, we recommend using a fixed two-week duration for each sprint.</a:t>
            </a:r>
          </a:p>
          <a:p>
            <a:endParaRPr lang="en-US" dirty="0"/>
          </a:p>
          <a:p>
            <a:r>
              <a:rPr lang="en-US" dirty="0"/>
              <a:t>In Jira Software, you view sprints on a board and assign issues to sprints.</a:t>
            </a:r>
            <a:endParaRPr lang="en-IN" dirty="0"/>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Epic</a:t>
            </a:r>
            <a:endParaRPr lang="en-IN" dirty="0">
              <a:solidFill>
                <a:schemeClr val="tx1"/>
              </a:solidFill>
            </a:endParaRPr>
          </a:p>
        </p:txBody>
      </p:sp>
      <p:sp>
        <p:nvSpPr>
          <p:cNvPr id="5" name="Content Placeholder 4"/>
          <p:cNvSpPr>
            <a:spLocks noGrp="1"/>
          </p:cNvSpPr>
          <p:nvPr>
            <p:ph sz="half" idx="1"/>
          </p:nvPr>
        </p:nvSpPr>
        <p:spPr>
          <a:xfrm>
            <a:off x="500644" y="855808"/>
            <a:ext cx="10622576" cy="4572241"/>
          </a:xfrm>
        </p:spPr>
        <p:txBody>
          <a:bodyPr/>
          <a:lstStyle/>
          <a:p>
            <a:r>
              <a:rPr lang="en-US" sz="2800" b="1" dirty="0"/>
              <a:t>EPIC :- </a:t>
            </a:r>
            <a:r>
              <a:rPr lang="en-US" dirty="0"/>
              <a:t>An </a:t>
            </a:r>
            <a:r>
              <a:rPr lang="en-US" b="1" dirty="0"/>
              <a:t>epic</a:t>
            </a:r>
            <a:r>
              <a:rPr lang="en-US" dirty="0"/>
              <a:t> is a large body of work that can be broken down into a number of smaller stories, or sometimes called “Issues” in </a:t>
            </a:r>
            <a:r>
              <a:rPr lang="en-US" b="1" dirty="0"/>
              <a:t>Jira</a:t>
            </a:r>
            <a:r>
              <a:rPr lang="en-US" dirty="0"/>
              <a:t>. </a:t>
            </a:r>
          </a:p>
          <a:p>
            <a:endParaRPr lang="en-US" b="1" dirty="0"/>
          </a:p>
          <a:p>
            <a:r>
              <a:rPr lang="en-US" b="1" dirty="0"/>
              <a:t>Epics</a:t>
            </a:r>
            <a:r>
              <a:rPr lang="en-US" dirty="0"/>
              <a:t> often encompass multiple teams, on multiple projects, and can even be tracked on multiple boards. </a:t>
            </a:r>
          </a:p>
          <a:p>
            <a:endParaRPr lang="en-US" b="1" dirty="0"/>
          </a:p>
          <a:p>
            <a:r>
              <a:rPr lang="en-US" b="1" dirty="0"/>
              <a:t>Epics</a:t>
            </a:r>
            <a:r>
              <a:rPr lang="en-US" dirty="0"/>
              <a:t> are almost always delivered over a set of sprints</a:t>
            </a:r>
            <a:r>
              <a:rPr lang="en-US" dirty="0" smtClean="0"/>
              <a:t>.</a:t>
            </a:r>
          </a:p>
          <a:p>
            <a:endParaRPr lang="en-US" dirty="0"/>
          </a:p>
          <a:p>
            <a:endParaRPr lang="en-IN" dirty="0"/>
          </a:p>
        </p:txBody>
      </p:sp>
      <p:pic>
        <p:nvPicPr>
          <p:cNvPr id="2" name="Picture 1"/>
          <p:cNvPicPr>
            <a:picLocks noChangeAspect="1"/>
          </p:cNvPicPr>
          <p:nvPr/>
        </p:nvPicPr>
        <p:blipFill>
          <a:blip r:embed="rId3"/>
          <a:stretch>
            <a:fillRect/>
          </a:stretch>
        </p:blipFill>
        <p:spPr>
          <a:xfrm>
            <a:off x="5811932" y="3475326"/>
            <a:ext cx="5705475" cy="3038475"/>
          </a:xfrm>
          <a:prstGeom prst="rect">
            <a:avLst/>
          </a:prstGeom>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Task , sub Task and Bugs</a:t>
            </a:r>
            <a:endParaRPr lang="en-IN" dirty="0">
              <a:solidFill>
                <a:schemeClr val="tx1"/>
              </a:solidFill>
            </a:endParaRPr>
          </a:p>
        </p:txBody>
      </p:sp>
      <p:sp>
        <p:nvSpPr>
          <p:cNvPr id="5" name="Content Placeholder 4"/>
          <p:cNvSpPr>
            <a:spLocks noGrp="1"/>
          </p:cNvSpPr>
          <p:nvPr>
            <p:ph sz="half" idx="1"/>
          </p:nvPr>
        </p:nvSpPr>
        <p:spPr/>
        <p:txBody>
          <a:bodyPr/>
          <a:lstStyle/>
          <a:p>
            <a:r>
              <a:rPr lang="en-US" sz="2800" b="1" dirty="0"/>
              <a:t>Story :- </a:t>
            </a:r>
            <a:r>
              <a:rPr lang="en-US" sz="2000" dirty="0"/>
              <a:t>User stories are a key element in the agile methodologies. They’re an essential strategy for communicating requirements to the development team. It’s important that the person tasked with documenting feature requirements is able to write effective and accurate user stories. </a:t>
            </a:r>
            <a:endParaRPr lang="en-US" sz="2000" dirty="0" smtClean="0"/>
          </a:p>
          <a:p>
            <a:endParaRPr lang="en-US" sz="2000" dirty="0"/>
          </a:p>
          <a:p>
            <a:r>
              <a:rPr lang="en-US" sz="2000" dirty="0"/>
              <a:t>A user story is an informal, general explanation of a software feature written from the perspective of the end user. Its purpose is to articulate how a software feature will provide value to the customer.</a:t>
            </a:r>
          </a:p>
          <a:p>
            <a:endParaRPr lang="en-US" sz="2000" dirty="0"/>
          </a:p>
          <a:p>
            <a:r>
              <a:rPr lang="en-US" sz="2000" dirty="0"/>
              <a:t>Most user stories follow this template:</a:t>
            </a:r>
          </a:p>
          <a:p>
            <a:r>
              <a:rPr lang="en-US" sz="2000" b="1" dirty="0"/>
              <a:t>As a [type of user], I want to do [X[, so that I can [achieve goal X]. </a:t>
            </a:r>
            <a:endParaRPr lang="en-US" sz="2000" dirty="0"/>
          </a:p>
          <a:p>
            <a:r>
              <a:rPr lang="en-US" sz="2000" dirty="0"/>
              <a:t>For example:</a:t>
            </a:r>
          </a:p>
          <a:p>
            <a:r>
              <a:rPr lang="en-US" sz="2000" dirty="0"/>
              <a:t>As an Admin, I want to have access to the database so that I can reset the user password.</a:t>
            </a:r>
          </a:p>
          <a:p>
            <a:endParaRPr lang="en-IN" dirty="0"/>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Task , sub Task and Bugs</a:t>
            </a:r>
            <a:endParaRPr lang="en-IN" dirty="0">
              <a:solidFill>
                <a:schemeClr val="tx1"/>
              </a:solidFill>
            </a:endParaRPr>
          </a:p>
        </p:txBody>
      </p:sp>
      <p:sp>
        <p:nvSpPr>
          <p:cNvPr id="5" name="Content Placeholder 4"/>
          <p:cNvSpPr>
            <a:spLocks noGrp="1"/>
          </p:cNvSpPr>
          <p:nvPr>
            <p:ph sz="half" idx="1"/>
          </p:nvPr>
        </p:nvSpPr>
        <p:spPr>
          <a:xfrm>
            <a:off x="528354" y="1296955"/>
            <a:ext cx="10622576" cy="5017785"/>
          </a:xfrm>
        </p:spPr>
        <p:txBody>
          <a:bodyPr/>
          <a:lstStyle/>
          <a:p>
            <a:r>
              <a:rPr lang="en-US" b="1" dirty="0"/>
              <a:t>Task</a:t>
            </a:r>
            <a:endParaRPr lang="en-US" dirty="0"/>
          </a:p>
          <a:p>
            <a:pPr marL="0" indent="0">
              <a:buNone/>
            </a:pPr>
            <a:r>
              <a:rPr lang="en-US" dirty="0"/>
              <a:t>A task represents work that needs to be done.</a:t>
            </a:r>
          </a:p>
          <a:p>
            <a:endParaRPr lang="en-US" dirty="0"/>
          </a:p>
          <a:p>
            <a:r>
              <a:rPr lang="en-US" b="1" dirty="0"/>
              <a:t>Subtask</a:t>
            </a:r>
            <a:endParaRPr lang="en-US" dirty="0"/>
          </a:p>
          <a:p>
            <a:pPr marL="0" indent="0">
              <a:buNone/>
            </a:pPr>
            <a:r>
              <a:rPr lang="en-US" dirty="0"/>
              <a:t>A subtask is a piece of work that is required to complete a task.</a:t>
            </a:r>
          </a:p>
          <a:p>
            <a:pPr marL="0" indent="0">
              <a:buNone/>
            </a:pPr>
            <a:endParaRPr lang="en-US" dirty="0"/>
          </a:p>
          <a:p>
            <a:r>
              <a:rPr lang="en-US" b="1" dirty="0"/>
              <a:t>Bug</a:t>
            </a:r>
            <a:endParaRPr lang="en-US" dirty="0"/>
          </a:p>
          <a:p>
            <a:pPr marL="0" indent="0">
              <a:buNone/>
            </a:pPr>
            <a:r>
              <a:rPr lang="en-US" dirty="0"/>
              <a:t>A bug is a problem which impairs or prevents the functions of a product.</a:t>
            </a:r>
          </a:p>
          <a:p>
            <a:pPr marL="0" indent="0">
              <a:buNone/>
            </a:pPr>
            <a:endParaRPr lang="en-US" dirty="0"/>
          </a:p>
          <a:p>
            <a:pPr marL="0" indent="0">
              <a:buNone/>
            </a:pPr>
            <a:endParaRPr lang="en-US" dirty="0"/>
          </a:p>
          <a:p>
            <a:endParaRPr lang="en-US" dirty="0"/>
          </a:p>
          <a:p>
            <a:endParaRPr lang="en-IN"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Points</a:t>
            </a:r>
            <a:endParaRPr lang="en-IN" dirty="0">
              <a:solidFill>
                <a:schemeClr val="tx1"/>
              </a:solidFill>
            </a:endParaRPr>
          </a:p>
        </p:txBody>
      </p:sp>
      <p:sp>
        <p:nvSpPr>
          <p:cNvPr id="5" name="Content Placeholder 4"/>
          <p:cNvSpPr>
            <a:spLocks noGrp="1"/>
          </p:cNvSpPr>
          <p:nvPr>
            <p:ph sz="half" idx="1"/>
          </p:nvPr>
        </p:nvSpPr>
        <p:spPr>
          <a:xfrm>
            <a:off x="528354" y="1296955"/>
            <a:ext cx="10622576" cy="5017785"/>
          </a:xfrm>
        </p:spPr>
        <p:txBody>
          <a:bodyPr/>
          <a:lstStyle/>
          <a:p>
            <a:r>
              <a:rPr lang="en-US" dirty="0"/>
              <a:t>There's a huge variety of ways to estimate stories, but the objective of every approach is to be able to get better at predicting how much work the team can do each sprint. </a:t>
            </a:r>
          </a:p>
          <a:p>
            <a:endParaRPr lang="en-US" dirty="0"/>
          </a:p>
          <a:p>
            <a:r>
              <a:rPr lang="en-US" dirty="0"/>
              <a:t>Even when you estimate in story points, you can still track in time if you want. Knowing the team velocity (regardless of the measure used) enables you to roughly guess how long estimated backlog items will take to complete. </a:t>
            </a:r>
          </a:p>
          <a:p>
            <a:endParaRPr lang="en-US" dirty="0"/>
          </a:p>
          <a:p>
            <a:r>
              <a:rPr lang="en-US" dirty="0"/>
              <a:t>Jira Software does also have a couple of dedicated fields (</a:t>
            </a:r>
            <a:r>
              <a:rPr lang="en-US" b="1" dirty="0"/>
              <a:t>Remaining Estimate</a:t>
            </a:r>
            <a:r>
              <a:rPr lang="en-US" dirty="0"/>
              <a:t> and </a:t>
            </a:r>
            <a:r>
              <a:rPr lang="en-US" b="1" dirty="0"/>
              <a:t>Time Spent</a:t>
            </a:r>
            <a:r>
              <a:rPr lang="en-US" dirty="0"/>
              <a:t>) to track time while using story points.</a:t>
            </a:r>
          </a:p>
          <a:p>
            <a:endParaRPr lang="en-US" dirty="0"/>
          </a:p>
          <a:p>
            <a:endParaRPr lang="en-US" dirty="0"/>
          </a:p>
          <a:p>
            <a:endParaRPr lang="en-US" dirty="0"/>
          </a:p>
          <a:p>
            <a:endParaRPr lang="en-IN"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Introduction to Workflows</a:t>
            </a:r>
            <a:endParaRPr lang="en-IN" dirty="0">
              <a:solidFill>
                <a:schemeClr val="tx1"/>
              </a:solidFill>
            </a:endParaRPr>
          </a:p>
        </p:txBody>
      </p:sp>
      <p:sp>
        <p:nvSpPr>
          <p:cNvPr id="5" name="Content Placeholder 4"/>
          <p:cNvSpPr>
            <a:spLocks noGrp="1"/>
          </p:cNvSpPr>
          <p:nvPr>
            <p:ph sz="half" idx="1"/>
          </p:nvPr>
        </p:nvSpPr>
        <p:spPr/>
        <p:txBody>
          <a:bodyPr/>
          <a:lstStyle/>
          <a:p>
            <a:r>
              <a:rPr lang="en-IN" dirty="0"/>
              <a:t>A JIRA workflow is a set of statuses and transitions that an issue goes through during its lifecycle. JIRA workflow encompasses five main stages once the issue is created.</a:t>
            </a:r>
          </a:p>
          <a:p>
            <a:r>
              <a:rPr lang="en-IN" dirty="0"/>
              <a:t>Open Issue</a:t>
            </a:r>
          </a:p>
          <a:p>
            <a:r>
              <a:rPr lang="en-IN" dirty="0"/>
              <a:t>Resolved Issue</a:t>
            </a:r>
          </a:p>
          <a:p>
            <a:r>
              <a:rPr lang="en-IN" dirty="0" err="1"/>
              <a:t>InProgress</a:t>
            </a:r>
            <a:r>
              <a:rPr lang="en-IN" dirty="0"/>
              <a:t> Issue</a:t>
            </a:r>
          </a:p>
          <a:p>
            <a:r>
              <a:rPr lang="en-IN" dirty="0" err="1"/>
              <a:t>ReOpened</a:t>
            </a:r>
            <a:r>
              <a:rPr lang="en-IN" dirty="0"/>
              <a:t> Issue</a:t>
            </a:r>
          </a:p>
          <a:p>
            <a:r>
              <a:rPr lang="en-IN" dirty="0"/>
              <a:t>Close Issue</a:t>
            </a:r>
          </a:p>
          <a:p>
            <a:pPr>
              <a:buNone/>
            </a:pPr>
            <a:r>
              <a:rPr lang="en-IN" dirty="0"/>
              <a:t/>
            </a:r>
            <a:br>
              <a:rPr lang="en-IN" dirty="0"/>
            </a:br>
            <a:endParaRPr lang="en-IN"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JQL</a:t>
            </a:r>
            <a:endParaRPr lang="en-IN" dirty="0">
              <a:solidFill>
                <a:schemeClr val="tx1"/>
              </a:solidFill>
            </a:endParaRPr>
          </a:p>
        </p:txBody>
      </p:sp>
      <p:sp>
        <p:nvSpPr>
          <p:cNvPr id="5" name="Content Placeholder 4"/>
          <p:cNvSpPr>
            <a:spLocks noGrp="1"/>
          </p:cNvSpPr>
          <p:nvPr>
            <p:ph sz="half" idx="1"/>
          </p:nvPr>
        </p:nvSpPr>
        <p:spPr>
          <a:xfrm>
            <a:off x="528354" y="1138335"/>
            <a:ext cx="10622576" cy="5176405"/>
          </a:xfrm>
        </p:spPr>
        <p:txBody>
          <a:bodyPr>
            <a:normAutofit/>
          </a:bodyPr>
          <a:lstStyle/>
          <a:p>
            <a:pPr>
              <a:buNone/>
            </a:pPr>
            <a:endParaRPr lang="en-US" dirty="0"/>
          </a:p>
          <a:p>
            <a:r>
              <a:rPr lang="en-US" dirty="0"/>
              <a:t>JQL stands for Jira Query Language and is the most powerful and flexible way to search for your issues in Jira. JQL is for everyone: developers, testers, agile project managers, and business users</a:t>
            </a:r>
          </a:p>
          <a:p>
            <a:endParaRPr lang="en-US" dirty="0"/>
          </a:p>
          <a:p>
            <a:r>
              <a:rPr lang="en-US" dirty="0"/>
              <a:t>There are two types of searches in Jira: basic and advanced. </a:t>
            </a:r>
          </a:p>
          <a:p>
            <a:endParaRPr lang="en-US" dirty="0"/>
          </a:p>
          <a:p>
            <a:r>
              <a:rPr lang="en-US" dirty="0"/>
              <a:t>Basic searches, like the ones above, present you with a set of forms that you can fill in, such as Project name, Issue Type, Status, and Assignee. </a:t>
            </a:r>
          </a:p>
          <a:p>
            <a:endParaRPr lang="en-US" dirty="0"/>
          </a:p>
          <a:p>
            <a:r>
              <a:rPr lang="en-US" dirty="0"/>
              <a:t>Basic search can be useful for getting a high-level view of your issues and status.</a:t>
            </a:r>
          </a:p>
          <a:p>
            <a:endParaRPr lang="en-US" dirty="0"/>
          </a:p>
          <a:p>
            <a:pPr>
              <a:buNone/>
            </a:pPr>
            <a:endParaRPr lang="en-IN"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47015" y="1138334"/>
            <a:ext cx="11349516" cy="5719665"/>
          </a:xfrm>
        </p:spPr>
        <p:txBody>
          <a:bodyPr>
            <a:normAutofit/>
          </a:bodyPr>
          <a:lstStyle/>
          <a:p>
            <a:r>
              <a:rPr lang="en-US" dirty="0"/>
              <a:t>Now Advanced Searching is where you will get into JQL, using it to form queries. Queries are a series of simple elements strung together to form a more complex question. A query has three basic parts: fields, operators, and values.</a:t>
            </a:r>
          </a:p>
          <a:p>
            <a:endParaRPr lang="en-US" dirty="0"/>
          </a:p>
          <a:p>
            <a:r>
              <a:rPr lang="en-US" b="1" dirty="0"/>
              <a:t>Field</a:t>
            </a:r>
            <a:r>
              <a:rPr lang="en-US" dirty="0"/>
              <a:t> – Fields are different types of information in the system. Jira fields include priority, </a:t>
            </a:r>
            <a:r>
              <a:rPr lang="en-US" dirty="0" err="1"/>
              <a:t>fixVersion</a:t>
            </a:r>
            <a:r>
              <a:rPr lang="en-US" dirty="0"/>
              <a:t>, issue type, etc.</a:t>
            </a:r>
          </a:p>
          <a:p>
            <a:endParaRPr lang="en-US" dirty="0"/>
          </a:p>
          <a:p>
            <a:r>
              <a:rPr lang="en-US" b="1" dirty="0"/>
              <a:t>Operator</a:t>
            </a:r>
            <a:r>
              <a:rPr lang="en-US" dirty="0"/>
              <a:t> – Operators are the heart of the query. They relate the field to the value. Common operators include equals (=), not equals (!=), less than (&lt;), etc.</a:t>
            </a:r>
          </a:p>
          <a:p>
            <a:endParaRPr lang="en-US" dirty="0"/>
          </a:p>
          <a:p>
            <a:r>
              <a:rPr lang="en-US" b="1" dirty="0"/>
              <a:t>Value </a:t>
            </a:r>
            <a:r>
              <a:rPr lang="en-US" dirty="0"/>
              <a:t>– Values are the actual data in the query. They are usually the item for which we are looking.</a:t>
            </a:r>
          </a:p>
          <a:p>
            <a:endParaRPr lang="en-US" dirty="0"/>
          </a:p>
          <a:p>
            <a:r>
              <a:rPr lang="en-US" dirty="0" err="1"/>
              <a:t>E.g</a:t>
            </a:r>
            <a:r>
              <a:rPr lang="en-US" dirty="0"/>
              <a:t> :- project = "IBM"</a:t>
            </a:r>
          </a:p>
          <a:p>
            <a:pPr marL="0" indent="0">
              <a:buNone/>
            </a:pPr>
            <a:endParaRPr lang="en-IN" dirty="0"/>
          </a:p>
        </p:txBody>
      </p:sp>
      <p:sp>
        <p:nvSpPr>
          <p:cNvPr id="3" name="Title 2"/>
          <p:cNvSpPr>
            <a:spLocks noGrp="1"/>
          </p:cNvSpPr>
          <p:nvPr>
            <p:ph type="title"/>
          </p:nvPr>
        </p:nvSpPr>
        <p:spPr>
          <a:xfrm>
            <a:off x="340290" y="173448"/>
            <a:ext cx="8039005" cy="369812"/>
          </a:xfrm>
        </p:spPr>
        <p:txBody>
          <a:bodyPr>
            <a:normAutofit fontScale="90000"/>
          </a:bodyPr>
          <a:lstStyle/>
          <a:p>
            <a:r>
              <a:rPr lang="en-IN" dirty="0"/>
              <a:t>Advanced Search</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360</Words>
  <Application>WPS Presentation</Application>
  <PresentationFormat>Custom</PresentationFormat>
  <Paragraphs>93</Paragraphs>
  <Slides>11</Slides>
  <Notes>10</Notes>
  <HiddenSlides>0</HiddenSlides>
  <MMClips>0</MMClips>
  <ScaleCrop>false</ScaleCrop>
  <HeadingPairs>
    <vt:vector size="6" baseType="variant">
      <vt:variant>
        <vt:lpstr>Theme</vt:lpstr>
      </vt:variant>
      <vt:variant>
        <vt:i4>1</vt:i4>
      </vt:variant>
      <vt:variant>
        <vt:lpstr>Slide Titles</vt:lpstr>
      </vt:variant>
      <vt:variant>
        <vt:i4>11</vt:i4>
      </vt:variant>
      <vt:variant>
        <vt:lpstr>Custom Shows</vt:lpstr>
      </vt:variant>
      <vt:variant>
        <vt:i4>1</vt:i4>
      </vt:variant>
    </vt:vector>
  </HeadingPairs>
  <TitlesOfParts>
    <vt:vector size="13" baseType="lpstr">
      <vt:lpstr>Office Theme</vt:lpstr>
      <vt:lpstr>Table of Contents – Day 1</vt:lpstr>
      <vt:lpstr>JIRA Key Concepts</vt:lpstr>
      <vt:lpstr>Introduction to Issues</vt:lpstr>
      <vt:lpstr>What is Sprint</vt:lpstr>
      <vt:lpstr>What is Epic</vt:lpstr>
      <vt:lpstr>What is Story, Task , sub Task and Bugs</vt:lpstr>
      <vt:lpstr>What is Story, Task , sub Task and Bugs</vt:lpstr>
      <vt:lpstr>What is Story Points</vt:lpstr>
      <vt:lpstr>Introduction to Workflows</vt:lpstr>
      <vt:lpstr>What is JQL</vt:lpstr>
      <vt:lpstr>Advanced Search</vt:lpstr>
      <vt:lpstr>Custom Show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Concepts, TDD, BDD &amp; Use case</dc:title>
  <dc:creator>Rekha Basurangan [MaGE]</dc:creator>
  <cp:lastModifiedBy>SYS</cp:lastModifiedBy>
  <cp:revision>376</cp:revision>
  <dcterms:created xsi:type="dcterms:W3CDTF">2022-02-10T08:06:38Z</dcterms:created>
  <dcterms:modified xsi:type="dcterms:W3CDTF">2022-02-22T17:09:40Z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1033-3.1.6.6275</vt:lpwstr>
  </property>
</Properties>
</file>